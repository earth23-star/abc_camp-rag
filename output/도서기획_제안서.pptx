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ABC Publishing의 도서 기획팀입니다. 오늘은 YES24 IT 모바일 베스트셀러 데이터를 기반으로 한 신규 도서 기획 제안서를 발표하겠습니다. 약 1분간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발표의 핵심을 요약하겠습니다. 현재 YES24 IT 모바일 베스트셀러 300여 권 중 AI와 코딩 관련 도서가 압도적 비중을 차지하고 있습니다. 특히 바이브 코딩 카테고리가 1위를 차지했으며, 2026년 6월 한 달간에만 83권이 신규 등록되는 등 시장이 빠르게 성장하고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시장 분석 결과를 살펴보겠습니다. 2022년 대비 2026년에는 IT 도서 등록량이 약 8배 이상 성장했습니다. 주요 트렌드로는 바이브 코딩, AI 에이전트 개발, 교사 대상 에듀테크, 그리고 특정 AI 도구 중심의 실전 가이드가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베스트셀러 TOP 5를 분석하면, Claude 코드 관련 도서가 2위와 1위에 올라있습니다. 특히 '바로바로 클로드'와 '혼자 공부하는 바이브 코딩'이 인기를 끌고 있으며, 특정 AI 도구를 깊이 있게 다룬 실전 가이드가 시장을 주도하고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바이브 코딩은 전체 IT 베스트셀러의 약 35%를 차지하는 최대 트렌드입니다. Claude Code 관련 전용 가이드만 15권 이상 출판되었으며, 평균 판매가는 약 2.5만원대로 형성되어 있습니다. 이는 프리미엄 가격대의 실전 도서 시장이 형성되고 있음을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타겟 오디언스는 4개 그룹으로 구분됩니다. 개발자 엔지니어가 35%로 가장 큰 비중을 차지하며, 그 다음으로 교사와 에듀테크 관계자가 25%, 비개발자 직장인이 25%, 창작자와 프리랜서가 15%입니다. 이 데이터는 베스트셀러 도서들의 실제 구매층 분석을 기반으로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제안하는 도서는 '바이브 코딩 마스터: 클로드 코드 완전 정복'입니다. 코딩 경험 없이 AI 도구를 활용하여 실전 앱을 개발하는 방법을 다루며, 약 400페이지 12개 챕터로 구성될 예정입니다. 2026년 4분기 출간을 목표로 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도서는 12개 챕터로 구성됩니다. 초반부는 바이브 코딩의 개념과 Claude Code 환경 설정을 다루고, 중반부는 실전 프로젝트를 통해 데이터베이스 연동, 인증, UI/UX 디자인 등을 학습합니다. 후반부에는 배포, 모바일 앱, 수익화 전략까지 포함하여 완결적인 가이드를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 도서 분석 결과, 기존 도서들은 특정 도구나 중급 개발자를 대상으로 한 것들이 대부분입니다. 제안 도서는 비개발자부터 초급 개발자까지 아우르는 종합 가이드로, 실습 프로젝트가 8개 이상이며 수익화 전략과 에듀테크 활용편까지 포함하여 차별화됩니다.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마케팅은 온라인, 오프라인, 교육 채널로 나뉩니다. 온라인은 온라인 서점 리뷰 이벤트와 SNS 서평단 모집, 유튜브 채널 협찬을 진행합니다. 오프라인은 IT 컨퍼런스 특강과 서점 북토크를, 교육 채널은 교사 대상 웨비나와 에듀테크 컨퍼런스 발표를 계획하고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출간 일정은 2026년 8월부터 2027년 1월까지 약 6개월간 진행됩니다. 8월에 기획 확정과 저자 계약을 완료하고, 9월부터 11월까지 원고를 집필합니다. 12월에 교정교열과 디자인을 거쳐 2027년 1월에 출간할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예산은 저자 인세, 편집교정, 디자인, 인쇄, 마케팅을 포함하여 총 약 5,000만원이 소요될 것으로 예상됩니다. 매출 전망은 1차 인쇄 5,000권부터 시작하여 장기적으로 3만권 이상 판매를 목표로 하고 있으며, 1차와 2차를 합산하면 약 7,500만원에서 1억원의 매출을 기대할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주요 리스크로는 도구 업데이트 빈도와 AI 기술의 급속한 변화가 있습니다. 이에 대응하여 온라인 보충 자료를 제공하고, 원리 중심의 도구 독립적 구성으로 대응할 계획입니다. 시장 포화 리스크는 수익화 전략과 에듀테크 편 등 차별화 콘텐츠로 극복하겠습니다.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신규 도서 기획 제안서를 발표했습니다. 바이브 코딩과 AI 도구 활용 시장의 빠른 성장세, 그리고 저희 도서의 차별화 전략에 대해 질문이 있으시면 말씀해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바쁘신 와중에 시간을 내어 주셔서 감사합니다. 추가적인 질문이나 협의 사항이 있으시면 아래 이메일로 연락 주시기 바랍니다. 오늘 발표가 도서 기획에 도움이 되셨기를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Rectangle 1"/>
          <p:cNvSpPr/>
          <p:nvPr/>
        </p:nvSpPr>
        <p:spPr>
          <a:xfrm>
            <a:off x="0" y="0"/>
            <a:ext cx="9144000" cy="54864"/>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1097280"/>
          </a:xfrm>
          <a:prstGeom prst="rect">
            <a:avLst/>
          </a:prstGeom>
          <a:noFill/>
        </p:spPr>
        <p:txBody>
          <a:bodyPr wrap="square">
            <a:spAutoFit/>
          </a:bodyPr>
          <a:lstStyle/>
          <a:p>
            <a:pPr algn="l">
              <a:spcBef>
                <a:spcPts val="0"/>
              </a:spcBef>
              <a:spcAft>
                <a:spcPts val="0"/>
              </a:spcAft>
              <a:defRPr sz="4400" b="1">
                <a:solidFill>
                  <a:srgbClr val="FFFFFF"/>
                </a:solidFill>
                <a:latin typeface="Georgia"/>
              </a:defRPr>
            </a:pPr>
            <a:r>
              <a:t>신규 도서 기획</a:t>
            </a:r>
          </a:p>
        </p:txBody>
      </p:sp>
      <p:sp>
        <p:nvSpPr>
          <p:cNvPr id="4" name="TextBox 3"/>
          <p:cNvSpPr txBox="1"/>
          <p:nvPr/>
        </p:nvSpPr>
        <p:spPr>
          <a:xfrm>
            <a:off x="731520" y="2103120"/>
            <a:ext cx="7680960" cy="731520"/>
          </a:xfrm>
          <a:prstGeom prst="rect">
            <a:avLst/>
          </a:prstGeom>
          <a:noFill/>
        </p:spPr>
        <p:txBody>
          <a:bodyPr wrap="square">
            <a:spAutoFit/>
          </a:bodyPr>
          <a:lstStyle/>
          <a:p>
            <a:pPr algn="l">
              <a:spcBef>
                <a:spcPts val="0"/>
              </a:spcBef>
              <a:spcAft>
                <a:spcPts val="0"/>
              </a:spcAft>
              <a:defRPr sz="3600" b="1">
                <a:solidFill>
                  <a:srgbClr val="5DADE2"/>
                </a:solidFill>
                <a:latin typeface="Georgia"/>
              </a:defRPr>
            </a:pPr>
            <a:r>
              <a:t>제안서</a:t>
            </a:r>
          </a:p>
        </p:txBody>
      </p:sp>
      <p:sp>
        <p:nvSpPr>
          <p:cNvPr id="5" name="Rectangle 4"/>
          <p:cNvSpPr/>
          <p:nvPr/>
        </p:nvSpPr>
        <p:spPr>
          <a:xfrm>
            <a:off x="731520" y="3108960"/>
            <a:ext cx="109728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383280"/>
            <a:ext cx="7680960" cy="457200"/>
          </a:xfrm>
          <a:prstGeom prst="rect">
            <a:avLst/>
          </a:prstGeom>
          <a:noFill/>
        </p:spPr>
        <p:txBody>
          <a:bodyPr wrap="square">
            <a:spAutoFit/>
          </a:bodyPr>
          <a:lstStyle/>
          <a:p>
            <a:pPr algn="l">
              <a:spcBef>
                <a:spcPts val="0"/>
              </a:spcBef>
              <a:spcAft>
                <a:spcPts val="0"/>
              </a:spcAft>
              <a:defRPr sz="1600" b="0">
                <a:solidFill>
                  <a:srgbClr val="BDC3C7"/>
                </a:solidFill>
                <a:latin typeface="Calibri"/>
              </a:defRPr>
            </a:pPr>
            <a:r>
              <a:t>YES24 IT 모바일 베스트셀러 데이터 기반 전략</a:t>
            </a:r>
          </a:p>
        </p:txBody>
      </p:sp>
      <p:sp>
        <p:nvSpPr>
          <p:cNvPr id="7" name="TextBox 6"/>
          <p:cNvSpPr txBox="1"/>
          <p:nvPr/>
        </p:nvSpPr>
        <p:spPr>
          <a:xfrm>
            <a:off x="731520" y="4389120"/>
            <a:ext cx="7680960" cy="365760"/>
          </a:xfrm>
          <a:prstGeom prst="rect">
            <a:avLst/>
          </a:prstGeom>
          <a:noFill/>
        </p:spPr>
        <p:txBody>
          <a:bodyPr wrap="square">
            <a:spAutoFit/>
          </a:bodyPr>
          <a:lstStyle/>
          <a:p>
            <a:pPr algn="l">
              <a:spcBef>
                <a:spcPts val="0"/>
              </a:spcBef>
              <a:spcAft>
                <a:spcPts val="0"/>
              </a:spcAft>
              <a:defRPr sz="1300" b="0">
                <a:solidFill>
                  <a:srgbClr val="7F8C8D"/>
                </a:solidFill>
                <a:latin typeface="Calibri"/>
              </a:defRPr>
            </a:pPr>
            <a:r>
              <a:t>2026년 7월 | ABC Publishing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54864" cy="514350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Executive Summary</a:t>
            </a:r>
          </a:p>
        </p:txBody>
      </p:sp>
      <p:sp>
        <p:nvSpPr>
          <p:cNvPr id="4" name="Rectangle 3"/>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246888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2468880" cy="731520"/>
          </a:xfrm>
          <a:prstGeom prst="rect">
            <a:avLst/>
          </a:prstGeom>
          <a:noFill/>
        </p:spPr>
        <p:txBody>
          <a:bodyPr wrap="square">
            <a:spAutoFit/>
          </a:bodyPr>
          <a:lstStyle/>
          <a:p>
            <a:pPr algn="ctr">
              <a:spcBef>
                <a:spcPts val="0"/>
              </a:spcBef>
              <a:spcAft>
                <a:spcPts val="0"/>
              </a:spcAft>
              <a:defRPr sz="3600" b="1">
                <a:solidFill>
                  <a:srgbClr val="5DADE2"/>
                </a:solidFill>
                <a:latin typeface="Georgia"/>
              </a:defRPr>
            </a:pPr>
            <a:r>
              <a:t>300+</a:t>
            </a:r>
          </a:p>
        </p:txBody>
      </p:sp>
      <p:sp>
        <p:nvSpPr>
          <p:cNvPr id="7" name="TextBox 6"/>
          <p:cNvSpPr txBox="1"/>
          <p:nvPr/>
        </p:nvSpPr>
        <p:spPr>
          <a:xfrm>
            <a:off x="731520" y="2377440"/>
            <a:ext cx="2468880" cy="640080"/>
          </a:xfrm>
          <a:prstGeom prst="rect">
            <a:avLst/>
          </a:prstGeom>
          <a:noFill/>
        </p:spPr>
        <p:txBody>
          <a:bodyPr wrap="square">
            <a:spAutoFit/>
          </a:bodyPr>
          <a:lstStyle/>
          <a:p>
            <a:pPr algn="ctr">
              <a:spcBef>
                <a:spcPts val="0"/>
              </a:spcBef>
              <a:spcAft>
                <a:spcPts val="0"/>
              </a:spcAft>
              <a:defRPr sz="1200" b="0">
                <a:solidFill>
                  <a:srgbClr val="7F8C8D"/>
                </a:solidFill>
                <a:latin typeface="Calibri"/>
              </a:defRPr>
            </a:pPr>
            <a:r>
              <a:t>AI/코딩 관련</a:t>
            </a:r>
            <a:br/>
            <a:r>
              <a:t>베스트셀러</a:t>
            </a:r>
          </a:p>
        </p:txBody>
      </p:sp>
      <p:sp>
        <p:nvSpPr>
          <p:cNvPr id="8" name="Rectangle 7"/>
          <p:cNvSpPr/>
          <p:nvPr/>
        </p:nvSpPr>
        <p:spPr>
          <a:xfrm>
            <a:off x="3474720" y="1463040"/>
            <a:ext cx="246888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645920"/>
            <a:ext cx="2468880" cy="731520"/>
          </a:xfrm>
          <a:prstGeom prst="rect">
            <a:avLst/>
          </a:prstGeom>
          <a:noFill/>
        </p:spPr>
        <p:txBody>
          <a:bodyPr wrap="square">
            <a:spAutoFit/>
          </a:bodyPr>
          <a:lstStyle/>
          <a:p>
            <a:pPr algn="ctr">
              <a:spcBef>
                <a:spcPts val="0"/>
              </a:spcBef>
              <a:spcAft>
                <a:spcPts val="0"/>
              </a:spcAft>
              <a:defRPr sz="3600" b="1">
                <a:solidFill>
                  <a:srgbClr val="1ABC9C"/>
                </a:solidFill>
                <a:latin typeface="Georgia"/>
              </a:defRPr>
            </a:pPr>
            <a:r>
              <a:t>#1</a:t>
            </a:r>
          </a:p>
        </p:txBody>
      </p:sp>
      <p:sp>
        <p:nvSpPr>
          <p:cNvPr id="10" name="TextBox 9"/>
          <p:cNvSpPr txBox="1"/>
          <p:nvPr/>
        </p:nvSpPr>
        <p:spPr>
          <a:xfrm>
            <a:off x="3474720" y="2377440"/>
            <a:ext cx="2468880" cy="640080"/>
          </a:xfrm>
          <a:prstGeom prst="rect">
            <a:avLst/>
          </a:prstGeom>
          <a:noFill/>
        </p:spPr>
        <p:txBody>
          <a:bodyPr wrap="square">
            <a:spAutoFit/>
          </a:bodyPr>
          <a:lstStyle/>
          <a:p>
            <a:pPr algn="ctr">
              <a:spcBef>
                <a:spcPts val="0"/>
              </a:spcBef>
              <a:spcAft>
                <a:spcPts val="0"/>
              </a:spcAft>
              <a:defRPr sz="1200" b="0">
                <a:solidFill>
                  <a:srgbClr val="7F8C8D"/>
                </a:solidFill>
                <a:latin typeface="Calibri"/>
              </a:defRPr>
            </a:pPr>
            <a:r>
              <a:t>바이브 코딩</a:t>
            </a:r>
            <a:br/>
            <a:r>
              <a:t>카테고리 1위</a:t>
            </a:r>
          </a:p>
        </p:txBody>
      </p:sp>
      <p:sp>
        <p:nvSpPr>
          <p:cNvPr id="11" name="Rectangle 10"/>
          <p:cNvSpPr/>
          <p:nvPr/>
        </p:nvSpPr>
        <p:spPr>
          <a:xfrm>
            <a:off x="6217920" y="1463040"/>
            <a:ext cx="246888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645920"/>
            <a:ext cx="2468880" cy="731520"/>
          </a:xfrm>
          <a:prstGeom prst="rect">
            <a:avLst/>
          </a:prstGeom>
          <a:noFill/>
        </p:spPr>
        <p:txBody>
          <a:bodyPr wrap="square">
            <a:spAutoFit/>
          </a:bodyPr>
          <a:lstStyle/>
          <a:p>
            <a:pPr algn="ctr">
              <a:spcBef>
                <a:spcPts val="0"/>
              </a:spcBef>
              <a:spcAft>
                <a:spcPts val="0"/>
              </a:spcAft>
              <a:defRPr sz="3600" b="1">
                <a:solidFill>
                  <a:srgbClr val="2C3E50"/>
                </a:solidFill>
                <a:latin typeface="Georgia"/>
              </a:defRPr>
            </a:pPr>
            <a:r>
              <a:t>83권</a:t>
            </a:r>
          </a:p>
        </p:txBody>
      </p:sp>
      <p:sp>
        <p:nvSpPr>
          <p:cNvPr id="13" name="TextBox 12"/>
          <p:cNvSpPr txBox="1"/>
          <p:nvPr/>
        </p:nvSpPr>
        <p:spPr>
          <a:xfrm>
            <a:off x="6217920" y="2377440"/>
            <a:ext cx="2468880" cy="640080"/>
          </a:xfrm>
          <a:prstGeom prst="rect">
            <a:avLst/>
          </a:prstGeom>
          <a:noFill/>
        </p:spPr>
        <p:txBody>
          <a:bodyPr wrap="square">
            <a:spAutoFit/>
          </a:bodyPr>
          <a:lstStyle/>
          <a:p>
            <a:pPr algn="ctr">
              <a:spcBef>
                <a:spcPts val="0"/>
              </a:spcBef>
              <a:spcAft>
                <a:spcPts val="0"/>
              </a:spcAft>
              <a:defRPr sz="1200" b="0">
                <a:solidFill>
                  <a:srgbClr val="7F8C8D"/>
                </a:solidFill>
                <a:latin typeface="Calibri"/>
              </a:defRPr>
            </a:pPr>
            <a:r>
              <a:t>2026년 6월</a:t>
            </a:r>
            <a:br/>
            <a:r>
              <a:t>월간 최다 등록</a:t>
            </a:r>
          </a:p>
        </p:txBody>
      </p:sp>
      <p:sp>
        <p:nvSpPr>
          <p:cNvPr id="14" name="TextBox 13"/>
          <p:cNvSpPr txBox="1"/>
          <p:nvPr/>
        </p:nvSpPr>
        <p:spPr>
          <a:xfrm>
            <a:off x="731520" y="3474720"/>
            <a:ext cx="7680960" cy="731520"/>
          </a:xfrm>
          <a:prstGeom prst="rect">
            <a:avLst/>
          </a:prstGeom>
          <a:noFill/>
        </p:spPr>
        <p:txBody>
          <a:bodyPr wrap="square">
            <a:spAutoFit/>
          </a:bodyPr>
          <a:lstStyle/>
          <a:p>
            <a:pPr algn="l">
              <a:spcBef>
                <a:spcPts val="0"/>
              </a:spcBef>
              <a:spcAft>
                <a:spcPts val="0"/>
              </a:spcAft>
              <a:defRPr sz="1400" b="0">
                <a:solidFill>
                  <a:srgbClr val="2C3E50"/>
                </a:solidFill>
                <a:latin typeface="Calibri"/>
              </a:defRPr>
            </a:pPr>
            <a:r>
              <a:t>바이브 코딩, AI 에이전트, 생성형 AI 도구 활용서가 IT 도서 시장을 주도하고 있으며, 교사 대상 에듀테크 도서가 새로운 성장 동력으로 부상했습니다.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시장 분석: IT 도서 트렌드</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3816096"/>
            <a:ext cx="731520" cy="298704"/>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541776"/>
            <a:ext cx="731520" cy="274320"/>
          </a:xfrm>
          <a:prstGeom prst="rect">
            <a:avLst/>
          </a:prstGeom>
          <a:noFill/>
        </p:spPr>
        <p:txBody>
          <a:bodyPr wrap="square">
            <a:spAutoFit/>
          </a:bodyPr>
          <a:lstStyle/>
          <a:p>
            <a:pPr algn="ctr">
              <a:spcBef>
                <a:spcPts val="0"/>
              </a:spcBef>
              <a:spcAft>
                <a:spcPts val="0"/>
              </a:spcAft>
              <a:defRPr sz="1000" b="1">
                <a:solidFill>
                  <a:srgbClr val="2C3E50"/>
                </a:solidFill>
                <a:latin typeface="Calibri"/>
              </a:defRPr>
            </a:pPr>
            <a:r>
              <a:t>35</a:t>
            </a:r>
          </a:p>
        </p:txBody>
      </p:sp>
      <p:sp>
        <p:nvSpPr>
          <p:cNvPr id="6" name="TextBox 5"/>
          <p:cNvSpPr txBox="1"/>
          <p:nvPr/>
        </p:nvSpPr>
        <p:spPr>
          <a:xfrm>
            <a:off x="914400" y="41605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2022</a:t>
            </a:r>
          </a:p>
        </p:txBody>
      </p:sp>
      <p:sp>
        <p:nvSpPr>
          <p:cNvPr id="7" name="Rectangle 6"/>
          <p:cNvSpPr/>
          <p:nvPr/>
        </p:nvSpPr>
        <p:spPr>
          <a:xfrm>
            <a:off x="1828800" y="3875836"/>
            <a:ext cx="731520" cy="238963"/>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601516"/>
            <a:ext cx="731520" cy="274320"/>
          </a:xfrm>
          <a:prstGeom prst="rect">
            <a:avLst/>
          </a:prstGeom>
          <a:noFill/>
        </p:spPr>
        <p:txBody>
          <a:bodyPr wrap="square">
            <a:spAutoFit/>
          </a:bodyPr>
          <a:lstStyle/>
          <a:p>
            <a:pPr algn="ctr">
              <a:spcBef>
                <a:spcPts val="0"/>
              </a:spcBef>
              <a:spcAft>
                <a:spcPts val="0"/>
              </a:spcAft>
              <a:defRPr sz="1000" b="1">
                <a:solidFill>
                  <a:srgbClr val="2C3E50"/>
                </a:solidFill>
                <a:latin typeface="Calibri"/>
              </a:defRPr>
            </a:pPr>
            <a:r>
              <a:t>28</a:t>
            </a:r>
          </a:p>
        </p:txBody>
      </p:sp>
      <p:sp>
        <p:nvSpPr>
          <p:cNvPr id="9" name="TextBox 8"/>
          <p:cNvSpPr txBox="1"/>
          <p:nvPr/>
        </p:nvSpPr>
        <p:spPr>
          <a:xfrm>
            <a:off x="1828800" y="41605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2023</a:t>
            </a:r>
          </a:p>
        </p:txBody>
      </p:sp>
      <p:sp>
        <p:nvSpPr>
          <p:cNvPr id="10" name="Rectangle 9"/>
          <p:cNvSpPr/>
          <p:nvPr/>
        </p:nvSpPr>
        <p:spPr>
          <a:xfrm>
            <a:off x="2743200" y="3688080"/>
            <a:ext cx="731520" cy="426719"/>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3413760"/>
            <a:ext cx="731520" cy="274320"/>
          </a:xfrm>
          <a:prstGeom prst="rect">
            <a:avLst/>
          </a:prstGeom>
          <a:noFill/>
        </p:spPr>
        <p:txBody>
          <a:bodyPr wrap="square">
            <a:spAutoFit/>
          </a:bodyPr>
          <a:lstStyle/>
          <a:p>
            <a:pPr algn="ctr">
              <a:spcBef>
                <a:spcPts val="0"/>
              </a:spcBef>
              <a:spcAft>
                <a:spcPts val="0"/>
              </a:spcAft>
              <a:defRPr sz="1000" b="1">
                <a:solidFill>
                  <a:srgbClr val="2C3E50"/>
                </a:solidFill>
                <a:latin typeface="Calibri"/>
              </a:defRPr>
            </a:pPr>
            <a:r>
              <a:t>50</a:t>
            </a:r>
          </a:p>
        </p:txBody>
      </p:sp>
      <p:sp>
        <p:nvSpPr>
          <p:cNvPr id="12" name="TextBox 11"/>
          <p:cNvSpPr txBox="1"/>
          <p:nvPr/>
        </p:nvSpPr>
        <p:spPr>
          <a:xfrm>
            <a:off x="2743200" y="41605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2024</a:t>
            </a:r>
          </a:p>
        </p:txBody>
      </p:sp>
      <p:sp>
        <p:nvSpPr>
          <p:cNvPr id="13" name="Rectangle 12"/>
          <p:cNvSpPr/>
          <p:nvPr/>
        </p:nvSpPr>
        <p:spPr>
          <a:xfrm>
            <a:off x="3657600" y="3090672"/>
            <a:ext cx="731520" cy="1024127"/>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816352"/>
            <a:ext cx="731520" cy="274320"/>
          </a:xfrm>
          <a:prstGeom prst="rect">
            <a:avLst/>
          </a:prstGeom>
          <a:noFill/>
        </p:spPr>
        <p:txBody>
          <a:bodyPr wrap="square">
            <a:spAutoFit/>
          </a:bodyPr>
          <a:lstStyle/>
          <a:p>
            <a:pPr algn="ctr">
              <a:spcBef>
                <a:spcPts val="0"/>
              </a:spcBef>
              <a:spcAft>
                <a:spcPts val="0"/>
              </a:spcAft>
              <a:defRPr sz="1000" b="1">
                <a:solidFill>
                  <a:srgbClr val="2C3E50"/>
                </a:solidFill>
                <a:latin typeface="Calibri"/>
              </a:defRPr>
            </a:pPr>
            <a:r>
              <a:t>120</a:t>
            </a:r>
          </a:p>
        </p:txBody>
      </p:sp>
      <p:sp>
        <p:nvSpPr>
          <p:cNvPr id="15" name="TextBox 14"/>
          <p:cNvSpPr txBox="1"/>
          <p:nvPr/>
        </p:nvSpPr>
        <p:spPr>
          <a:xfrm>
            <a:off x="3657600" y="41605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2025</a:t>
            </a:r>
          </a:p>
        </p:txBody>
      </p:sp>
      <p:sp>
        <p:nvSpPr>
          <p:cNvPr id="16" name="Rectangle 15"/>
          <p:cNvSpPr/>
          <p:nvPr/>
        </p:nvSpPr>
        <p:spPr>
          <a:xfrm>
            <a:off x="4572000" y="1554480"/>
            <a:ext cx="731520" cy="256032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1280160"/>
            <a:ext cx="731520" cy="274320"/>
          </a:xfrm>
          <a:prstGeom prst="rect">
            <a:avLst/>
          </a:prstGeom>
          <a:noFill/>
        </p:spPr>
        <p:txBody>
          <a:bodyPr wrap="square">
            <a:spAutoFit/>
          </a:bodyPr>
          <a:lstStyle/>
          <a:p>
            <a:pPr algn="ctr">
              <a:spcBef>
                <a:spcPts val="0"/>
              </a:spcBef>
              <a:spcAft>
                <a:spcPts val="0"/>
              </a:spcAft>
              <a:defRPr sz="1000" b="1">
                <a:solidFill>
                  <a:srgbClr val="2C3E50"/>
                </a:solidFill>
                <a:latin typeface="Calibri"/>
              </a:defRPr>
            </a:pPr>
            <a:r>
              <a:t>300</a:t>
            </a:r>
          </a:p>
        </p:txBody>
      </p:sp>
      <p:sp>
        <p:nvSpPr>
          <p:cNvPr id="18" name="TextBox 17"/>
          <p:cNvSpPr txBox="1"/>
          <p:nvPr/>
        </p:nvSpPr>
        <p:spPr>
          <a:xfrm>
            <a:off x="4572000" y="41605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2026(E)</a:t>
            </a:r>
          </a:p>
        </p:txBody>
      </p:sp>
      <p:sp>
        <p:nvSpPr>
          <p:cNvPr id="19" name="Rectangle 18"/>
          <p:cNvSpPr/>
          <p:nvPr/>
        </p:nvSpPr>
        <p:spPr>
          <a:xfrm>
            <a:off x="5029200" y="1371600"/>
            <a:ext cx="365760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0" y="1371600"/>
            <a:ext cx="54864" cy="73152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1417320"/>
            <a:ext cx="3291840" cy="32004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바이브 코딩</a:t>
            </a:r>
          </a:p>
        </p:txBody>
      </p:sp>
      <p:sp>
        <p:nvSpPr>
          <p:cNvPr id="22" name="TextBox 21"/>
          <p:cNvSpPr txBox="1"/>
          <p:nvPr/>
        </p:nvSpPr>
        <p:spPr>
          <a:xfrm>
            <a:off x="5257800" y="1719072"/>
            <a:ext cx="3291840" cy="320040"/>
          </a:xfrm>
          <a:prstGeom prst="rect">
            <a:avLst/>
          </a:prstGeom>
          <a:noFill/>
        </p:spPr>
        <p:txBody>
          <a:bodyPr wrap="square">
            <a:spAutoFit/>
          </a:bodyPr>
          <a:lstStyle/>
          <a:p>
            <a:pPr algn="l">
              <a:spcBef>
                <a:spcPts val="0"/>
              </a:spcBef>
              <a:spcAft>
                <a:spcPts val="0"/>
              </a:spcAft>
              <a:defRPr sz="1100" b="0">
                <a:solidFill>
                  <a:srgbClr val="7F8C8D"/>
                </a:solidFill>
                <a:latin typeface="Calibri"/>
              </a:defRPr>
            </a:pPr>
            <a:r>
              <a:t>코딩 경험 없이 AI로 앱/서비스를 만드는 새로운 접근법</a:t>
            </a:r>
          </a:p>
        </p:txBody>
      </p:sp>
      <p:sp>
        <p:nvSpPr>
          <p:cNvPr id="23" name="Rectangle 22"/>
          <p:cNvSpPr/>
          <p:nvPr/>
        </p:nvSpPr>
        <p:spPr>
          <a:xfrm>
            <a:off x="5029200" y="2240280"/>
            <a:ext cx="365760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0" y="2240280"/>
            <a:ext cx="54864" cy="73152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7800" y="2286000"/>
            <a:ext cx="3291840" cy="32004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AI 에이전트</a:t>
            </a:r>
          </a:p>
        </p:txBody>
      </p:sp>
      <p:sp>
        <p:nvSpPr>
          <p:cNvPr id="26" name="TextBox 25"/>
          <p:cNvSpPr txBox="1"/>
          <p:nvPr/>
        </p:nvSpPr>
        <p:spPr>
          <a:xfrm>
            <a:off x="5257800" y="2587752"/>
            <a:ext cx="3291840" cy="320040"/>
          </a:xfrm>
          <a:prstGeom prst="rect">
            <a:avLst/>
          </a:prstGeom>
          <a:noFill/>
        </p:spPr>
        <p:txBody>
          <a:bodyPr wrap="square">
            <a:spAutoFit/>
          </a:bodyPr>
          <a:lstStyle/>
          <a:p>
            <a:pPr algn="l">
              <a:spcBef>
                <a:spcPts val="0"/>
              </a:spcBef>
              <a:spcAft>
                <a:spcPts val="0"/>
              </a:spcAft>
              <a:defRPr sz="1100" b="0">
                <a:solidFill>
                  <a:srgbClr val="7F8C8D"/>
                </a:solidFill>
                <a:latin typeface="Calibri"/>
              </a:defRPr>
            </a:pPr>
            <a:r>
              <a:t>LLM 기반 자율 실행 에이전트 개발서 급증</a:t>
            </a:r>
          </a:p>
        </p:txBody>
      </p:sp>
      <p:sp>
        <p:nvSpPr>
          <p:cNvPr id="27" name="Rectangle 26"/>
          <p:cNvSpPr/>
          <p:nvPr/>
        </p:nvSpPr>
        <p:spPr>
          <a:xfrm>
            <a:off x="5029200" y="3108960"/>
            <a:ext cx="365760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0" y="3108960"/>
            <a:ext cx="54864" cy="73152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57800" y="3154679"/>
            <a:ext cx="3291840" cy="32004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교육 시장</a:t>
            </a:r>
          </a:p>
        </p:txBody>
      </p:sp>
      <p:sp>
        <p:nvSpPr>
          <p:cNvPr id="30" name="TextBox 29"/>
          <p:cNvSpPr txBox="1"/>
          <p:nvPr/>
        </p:nvSpPr>
        <p:spPr>
          <a:xfrm>
            <a:off x="5257800" y="3456432"/>
            <a:ext cx="3291840" cy="320040"/>
          </a:xfrm>
          <a:prstGeom prst="rect">
            <a:avLst/>
          </a:prstGeom>
          <a:noFill/>
        </p:spPr>
        <p:txBody>
          <a:bodyPr wrap="square">
            <a:spAutoFit/>
          </a:bodyPr>
          <a:lstStyle/>
          <a:p>
            <a:pPr algn="l">
              <a:spcBef>
                <a:spcPts val="0"/>
              </a:spcBef>
              <a:spcAft>
                <a:spcPts val="0"/>
              </a:spcAft>
              <a:defRPr sz="1100" b="0">
                <a:solidFill>
                  <a:srgbClr val="7F8C8D"/>
                </a:solidFill>
                <a:latin typeface="Calibri"/>
              </a:defRPr>
            </a:pPr>
            <a:r>
              <a:t>교사 대상 에듀테크 도서가 전체의 20% 이상 차지</a:t>
            </a:r>
          </a:p>
        </p:txBody>
      </p:sp>
      <p:sp>
        <p:nvSpPr>
          <p:cNvPr id="31" name="Rectangle 30"/>
          <p:cNvSpPr/>
          <p:nvPr/>
        </p:nvSpPr>
        <p:spPr>
          <a:xfrm>
            <a:off x="5029200" y="3977639"/>
            <a:ext cx="365760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0" y="3977639"/>
            <a:ext cx="54864" cy="73152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57800" y="4023359"/>
            <a:ext cx="3291840" cy="32004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도구 활용서</a:t>
            </a:r>
          </a:p>
        </p:txBody>
      </p:sp>
      <p:sp>
        <p:nvSpPr>
          <p:cNvPr id="34" name="TextBox 33"/>
          <p:cNvSpPr txBox="1"/>
          <p:nvPr/>
        </p:nvSpPr>
        <p:spPr>
          <a:xfrm>
            <a:off x="5257800" y="4325112"/>
            <a:ext cx="3291840" cy="320040"/>
          </a:xfrm>
          <a:prstGeom prst="rect">
            <a:avLst/>
          </a:prstGeom>
          <a:noFill/>
        </p:spPr>
        <p:txBody>
          <a:bodyPr wrap="square">
            <a:spAutoFit/>
          </a:bodyPr>
          <a:lstStyle/>
          <a:p>
            <a:pPr algn="l">
              <a:spcBef>
                <a:spcPts val="0"/>
              </a:spcBef>
              <a:spcAft>
                <a:spcPts val="0"/>
              </a:spcAft>
              <a:defRPr sz="1100" b="0">
                <a:solidFill>
                  <a:srgbClr val="7F8C8D"/>
                </a:solidFill>
                <a:latin typeface="Calibri"/>
              </a:defRPr>
            </a:pPr>
            <a:r>
              <a:t>Claude, ChatGPT, Gemini 등 특정 도구 중심 실전 가이드 인기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베스트셀러 상세 분석</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371600"/>
          <a:ext cx="7680960" cy="2468880"/>
        </p:xfrm>
        <a:graphic>
          <a:graphicData uri="http://schemas.openxmlformats.org/drawingml/2006/table">
            <a:tbl>
              <a:tblPr firstRow="1" bandRow="1">
                <a:tableStyleId>{5C22544A-7EE6-4342-B048-85BDC9FD1C3A}</a:tableStyleId>
              </a:tblPr>
              <a:tblGrid>
                <a:gridCol w="548640"/>
                <a:gridCol w="4114800"/>
                <a:gridCol w="1463040"/>
                <a:gridCol w="1554480"/>
              </a:tblGrid>
              <a:tr h="411480">
                <a:tc>
                  <a:txBody>
                    <a:bodyPr/>
                    <a:lstStyle/>
                    <a:p>
                      <a:pPr>
                        <a:defRPr sz="1100" b="1">
                          <a:solidFill>
                            <a:srgbClr val="FFFFFF"/>
                          </a:solidFill>
                          <a:latin typeface="Calibri"/>
                        </a:defRPr>
                      </a:pPr>
                      <a:r>
                        <a:t>순위</a:t>
                      </a:r>
                    </a:p>
                  </a:txBody>
                  <a:tcPr>
                    <a:solidFill>
                      <a:srgbClr val="2C3E50"/>
                    </a:solidFill>
                  </a:tcPr>
                </a:tc>
                <a:tc>
                  <a:txBody>
                    <a:bodyPr/>
                    <a:lstStyle/>
                    <a:p>
                      <a:pPr>
                        <a:defRPr sz="1100" b="1">
                          <a:solidFill>
                            <a:srgbClr val="FFFFFF"/>
                          </a:solidFill>
                          <a:latin typeface="Calibri"/>
                        </a:defRPr>
                      </a:pPr>
                      <a:r>
                        <a:t>도서명</a:t>
                      </a:r>
                    </a:p>
                  </a:txBody>
                  <a:tcPr>
                    <a:solidFill>
                      <a:srgbClr val="2C3E50"/>
                    </a:solidFill>
                  </a:tcPr>
                </a:tc>
                <a:tc>
                  <a:txBody>
                    <a:bodyPr/>
                    <a:lstStyle/>
                    <a:p>
                      <a:pPr>
                        <a:defRPr sz="1100" b="1">
                          <a:solidFill>
                            <a:srgbClr val="FFFFFF"/>
                          </a:solidFill>
                          <a:latin typeface="Calibri"/>
                        </a:defRPr>
                      </a:pPr>
                      <a:r>
                        <a:t>저자</a:t>
                      </a:r>
                    </a:p>
                  </a:txBody>
                  <a:tcPr>
                    <a:solidFill>
                      <a:srgbClr val="2C3E50"/>
                    </a:solidFill>
                  </a:tcPr>
                </a:tc>
                <a:tc>
                  <a:txBody>
                    <a:bodyPr/>
                    <a:lstStyle/>
                    <a:p>
                      <a:pPr>
                        <a:defRPr sz="1100" b="1">
                          <a:solidFill>
                            <a:srgbClr val="FFFFFF"/>
                          </a:solidFill>
                          <a:latin typeface="Calibri"/>
                        </a:defRPr>
                      </a:pPr>
                      <a:r>
                        <a:t>판매가</a:t>
                      </a:r>
                    </a:p>
                  </a:txBody>
                  <a:tcPr>
                    <a:solidFill>
                      <a:srgbClr val="2C3E50"/>
                    </a:solidFill>
                  </a:tcPr>
                </a:tc>
              </a:tr>
              <a:tr h="411480">
                <a:tc>
                  <a:txBody>
                    <a:bodyPr/>
                    <a:lstStyle/>
                    <a:p>
                      <a:pPr>
                        <a:defRPr sz="1100" b="1">
                          <a:solidFill>
                            <a:srgbClr val="5DADE2"/>
                          </a:solidFill>
                          <a:latin typeface="Calibri"/>
                        </a:defRPr>
                      </a:pPr>
                      <a:r>
                        <a:t>1</a:t>
                      </a:r>
                    </a:p>
                  </a:txBody>
                  <a:tcPr>
                    <a:solidFill>
                      <a:srgbClr val="FFFFFF"/>
                    </a:solidFill>
                  </a:tcPr>
                </a:tc>
                <a:tc>
                  <a:txBody>
                    <a:bodyPr/>
                    <a:lstStyle/>
                    <a:p>
                      <a:pPr>
                        <a:defRPr sz="1100">
                          <a:solidFill>
                            <a:srgbClr val="2C3E50"/>
                          </a:solidFill>
                          <a:latin typeface="Calibri"/>
                        </a:defRPr>
                      </a:pPr>
                      <a:r>
                        <a:t>바로바로 클로드 with 코워크, 스킬, 클로드 코드</a:t>
                      </a:r>
                    </a:p>
                  </a:txBody>
                  <a:tcPr>
                    <a:solidFill>
                      <a:srgbClr val="FFFFFF"/>
                    </a:solidFill>
                  </a:tcPr>
                </a:tc>
                <a:tc>
                  <a:txBody>
                    <a:bodyPr/>
                    <a:lstStyle/>
                    <a:p>
                      <a:pPr>
                        <a:defRPr sz="1100">
                          <a:solidFill>
                            <a:srgbClr val="2C3E50"/>
                          </a:solidFill>
                          <a:latin typeface="Calibri"/>
                        </a:defRPr>
                      </a:pPr>
                      <a:r>
                        <a:t>차진우</a:t>
                      </a:r>
                    </a:p>
                  </a:txBody>
                  <a:tcPr>
                    <a:solidFill>
                      <a:srgbClr val="FFFFFF"/>
                    </a:solidFill>
                  </a:tcPr>
                </a:tc>
                <a:tc>
                  <a:txBody>
                    <a:bodyPr/>
                    <a:lstStyle/>
                    <a:p>
                      <a:pPr>
                        <a:defRPr sz="1100">
                          <a:solidFill>
                            <a:srgbClr val="2C3E50"/>
                          </a:solidFill>
                          <a:latin typeface="Calibri"/>
                        </a:defRPr>
                      </a:pPr>
                      <a:r>
                        <a:t>25,200원</a:t>
                      </a:r>
                    </a:p>
                  </a:txBody>
                  <a:tcPr>
                    <a:solidFill>
                      <a:srgbClr val="FFFFFF"/>
                    </a:solidFill>
                  </a:tcPr>
                </a:tc>
              </a:tr>
              <a:tr h="411480">
                <a:tc>
                  <a:txBody>
                    <a:bodyPr/>
                    <a:lstStyle/>
                    <a:p>
                      <a:pPr>
                        <a:defRPr sz="1100" b="1">
                          <a:solidFill>
                            <a:srgbClr val="5DADE2"/>
                          </a:solidFill>
                          <a:latin typeface="Calibri"/>
                        </a:defRPr>
                      </a:pPr>
                      <a:r>
                        <a:t>2</a:t>
                      </a:r>
                    </a:p>
                  </a:txBody>
                  <a:tcPr>
                    <a:solidFill>
                      <a:srgbClr val="F8F9FA"/>
                    </a:solidFill>
                  </a:tcPr>
                </a:tc>
                <a:tc>
                  <a:txBody>
                    <a:bodyPr/>
                    <a:lstStyle/>
                    <a:p>
                      <a:pPr>
                        <a:defRPr sz="1100">
                          <a:solidFill>
                            <a:srgbClr val="2C3E50"/>
                          </a:solidFill>
                          <a:latin typeface="Calibri"/>
                        </a:defRPr>
                      </a:pPr>
                      <a:r>
                        <a:t>혼자 공부하는 바이브 코딩 with 클로드 코드</a:t>
                      </a:r>
                    </a:p>
                  </a:txBody>
                  <a:tcPr>
                    <a:solidFill>
                      <a:srgbClr val="F8F9FA"/>
                    </a:solidFill>
                  </a:tcPr>
                </a:tc>
                <a:tc>
                  <a:txBody>
                    <a:bodyPr/>
                    <a:lstStyle/>
                    <a:p>
                      <a:pPr>
                        <a:defRPr sz="1100">
                          <a:solidFill>
                            <a:srgbClr val="2C3E50"/>
                          </a:solidFill>
                          <a:latin typeface="Calibri"/>
                        </a:defRPr>
                      </a:pPr>
                      <a:r>
                        <a:t>조태호</a:t>
                      </a:r>
                    </a:p>
                  </a:txBody>
                  <a:tcPr>
                    <a:solidFill>
                      <a:srgbClr val="F8F9FA"/>
                    </a:solidFill>
                  </a:tcPr>
                </a:tc>
                <a:tc>
                  <a:txBody>
                    <a:bodyPr/>
                    <a:lstStyle/>
                    <a:p>
                      <a:pPr>
                        <a:defRPr sz="1100">
                          <a:solidFill>
                            <a:srgbClr val="2C3E50"/>
                          </a:solidFill>
                          <a:latin typeface="Calibri"/>
                        </a:defRPr>
                      </a:pPr>
                      <a:r>
                        <a:t>27,000원</a:t>
                      </a:r>
                    </a:p>
                  </a:txBody>
                  <a:tcPr>
                    <a:solidFill>
                      <a:srgbClr val="F8F9FA"/>
                    </a:solidFill>
                  </a:tcPr>
                </a:tc>
              </a:tr>
              <a:tr h="411480">
                <a:tc>
                  <a:txBody>
                    <a:bodyPr/>
                    <a:lstStyle/>
                    <a:p>
                      <a:pPr>
                        <a:defRPr sz="1100" b="1">
                          <a:solidFill>
                            <a:srgbClr val="5DADE2"/>
                          </a:solidFill>
                          <a:latin typeface="Calibri"/>
                        </a:defRPr>
                      </a:pPr>
                      <a:r>
                        <a:t>3</a:t>
                      </a:r>
                    </a:p>
                  </a:txBody>
                  <a:tcPr>
                    <a:solidFill>
                      <a:srgbClr val="FFFFFF"/>
                    </a:solidFill>
                  </a:tcPr>
                </a:tc>
                <a:tc>
                  <a:txBody>
                    <a:bodyPr/>
                    <a:lstStyle/>
                    <a:p>
                      <a:pPr>
                        <a:defRPr sz="1100">
                          <a:solidFill>
                            <a:srgbClr val="2C3E50"/>
                          </a:solidFill>
                          <a:latin typeface="Calibri"/>
                        </a:defRPr>
                      </a:pPr>
                      <a:r>
                        <a:t>뚝딱 바로 써먹는 AI 3대장 챗GPT·제미나이·클로드</a:t>
                      </a:r>
                    </a:p>
                  </a:txBody>
                  <a:tcPr>
                    <a:solidFill>
                      <a:srgbClr val="FFFFFF"/>
                    </a:solidFill>
                  </a:tcPr>
                </a:tc>
                <a:tc>
                  <a:txBody>
                    <a:bodyPr/>
                    <a:lstStyle/>
                    <a:p>
                      <a:pPr>
                        <a:defRPr sz="1100">
                          <a:solidFill>
                            <a:srgbClr val="2C3E50"/>
                          </a:solidFill>
                          <a:latin typeface="Calibri"/>
                        </a:defRPr>
                      </a:pPr>
                      <a:r>
                        <a:t>코리아교육그룹</a:t>
                      </a:r>
                    </a:p>
                  </a:txBody>
                  <a:tcPr>
                    <a:solidFill>
                      <a:srgbClr val="FFFFFF"/>
                    </a:solidFill>
                  </a:tcPr>
                </a:tc>
                <a:tc>
                  <a:txBody>
                    <a:bodyPr/>
                    <a:lstStyle/>
                    <a:p>
                      <a:pPr>
                        <a:defRPr sz="1100">
                          <a:solidFill>
                            <a:srgbClr val="2C3E50"/>
                          </a:solidFill>
                          <a:latin typeface="Calibri"/>
                        </a:defRPr>
                      </a:pPr>
                      <a:r>
                        <a:t>19,800원</a:t>
                      </a:r>
                    </a:p>
                  </a:txBody>
                  <a:tcPr>
                    <a:solidFill>
                      <a:srgbClr val="FFFFFF"/>
                    </a:solidFill>
                  </a:tcPr>
                </a:tc>
              </a:tr>
              <a:tr h="411480">
                <a:tc>
                  <a:txBody>
                    <a:bodyPr/>
                    <a:lstStyle/>
                    <a:p>
                      <a:pPr>
                        <a:defRPr sz="1100" b="1">
                          <a:solidFill>
                            <a:srgbClr val="5DADE2"/>
                          </a:solidFill>
                          <a:latin typeface="Calibri"/>
                        </a:defRPr>
                      </a:pPr>
                      <a:r>
                        <a:t>4</a:t>
                      </a:r>
                    </a:p>
                  </a:txBody>
                  <a:tcPr>
                    <a:solidFill>
                      <a:srgbClr val="F8F9FA"/>
                    </a:solidFill>
                  </a:tcPr>
                </a:tc>
                <a:tc>
                  <a:txBody>
                    <a:bodyPr/>
                    <a:lstStyle/>
                    <a:p>
                      <a:pPr>
                        <a:defRPr sz="1100">
                          <a:solidFill>
                            <a:srgbClr val="2C3E50"/>
                          </a:solidFill>
                          <a:latin typeface="Calibri"/>
                        </a:defRPr>
                      </a:pPr>
                      <a:r>
                        <a:t>이게 되네? 제미나이 완전 미친 활용법 81제</a:t>
                      </a:r>
                    </a:p>
                  </a:txBody>
                  <a:tcPr>
                    <a:solidFill>
                      <a:srgbClr val="F8F9FA"/>
                    </a:solidFill>
                  </a:tcPr>
                </a:tc>
                <a:tc>
                  <a:txBody>
                    <a:bodyPr/>
                    <a:lstStyle/>
                    <a:p>
                      <a:pPr>
                        <a:defRPr sz="1100">
                          <a:solidFill>
                            <a:srgbClr val="2C3E50"/>
                          </a:solidFill>
                          <a:latin typeface="Calibri"/>
                        </a:defRPr>
                      </a:pPr>
                      <a:r>
                        <a:t>오힘찬</a:t>
                      </a:r>
                    </a:p>
                  </a:txBody>
                  <a:tcPr>
                    <a:solidFill>
                      <a:srgbClr val="F8F9FA"/>
                    </a:solidFill>
                  </a:tcPr>
                </a:tc>
                <a:tc>
                  <a:txBody>
                    <a:bodyPr/>
                    <a:lstStyle/>
                    <a:p>
                      <a:pPr>
                        <a:defRPr sz="1100">
                          <a:solidFill>
                            <a:srgbClr val="2C3E50"/>
                          </a:solidFill>
                          <a:latin typeface="Calibri"/>
                        </a:defRPr>
                      </a:pPr>
                      <a:r>
                        <a:t>21,600원</a:t>
                      </a:r>
                    </a:p>
                  </a:txBody>
                  <a:tcPr>
                    <a:solidFill>
                      <a:srgbClr val="F8F9FA"/>
                    </a:solidFill>
                  </a:tcPr>
                </a:tc>
              </a:tr>
              <a:tr h="411480">
                <a:tc>
                  <a:txBody>
                    <a:bodyPr/>
                    <a:lstStyle/>
                    <a:p>
                      <a:pPr>
                        <a:defRPr sz="1100" b="1">
                          <a:solidFill>
                            <a:srgbClr val="5DADE2"/>
                          </a:solidFill>
                          <a:latin typeface="Calibri"/>
                        </a:defRPr>
                      </a:pPr>
                      <a:r>
                        <a:t>5</a:t>
                      </a:r>
                    </a:p>
                  </a:txBody>
                  <a:tcPr>
                    <a:solidFill>
                      <a:srgbClr val="FFFFFF"/>
                    </a:solidFill>
                  </a:tcPr>
                </a:tc>
                <a:tc>
                  <a:txBody>
                    <a:bodyPr/>
                    <a:lstStyle/>
                    <a:p>
                      <a:pPr>
                        <a:defRPr sz="1100">
                          <a:solidFill>
                            <a:srgbClr val="2C3E50"/>
                          </a:solidFill>
                          <a:latin typeface="Calibri"/>
                        </a:defRPr>
                      </a:pPr>
                      <a:r>
                        <a:t>요즘 교사를 위한 에듀테크 5대장</a:t>
                      </a:r>
                    </a:p>
                  </a:txBody>
                  <a:tcPr>
                    <a:solidFill>
                      <a:srgbClr val="FFFFFF"/>
                    </a:solidFill>
                  </a:tcPr>
                </a:tc>
                <a:tc>
                  <a:txBody>
                    <a:bodyPr/>
                    <a:lstStyle/>
                    <a:p>
                      <a:pPr>
                        <a:defRPr sz="1100">
                          <a:solidFill>
                            <a:srgbClr val="2C3E50"/>
                          </a:solidFill>
                          <a:latin typeface="Calibri"/>
                        </a:defRPr>
                      </a:pPr>
                      <a:r>
                        <a:t>안익재</a:t>
                      </a:r>
                    </a:p>
                  </a:txBody>
                  <a:tcPr>
                    <a:solidFill>
                      <a:srgbClr val="FFFFFF"/>
                    </a:solidFill>
                  </a:tcPr>
                </a:tc>
                <a:tc>
                  <a:txBody>
                    <a:bodyPr/>
                    <a:lstStyle/>
                    <a:p>
                      <a:pPr>
                        <a:defRPr sz="1100">
                          <a:solidFill>
                            <a:srgbClr val="2C3E50"/>
                          </a:solidFill>
                          <a:latin typeface="Calibri"/>
                        </a:defRPr>
                      </a:pPr>
                      <a:r>
                        <a:t>17,820원</a:t>
                      </a:r>
                    </a:p>
                  </a:txBody>
                  <a:tcPr>
                    <a:solidFill>
                      <a:srgbClr val="FFFFFF"/>
                    </a:solidFill>
                  </a:tcPr>
                </a:tc>
              </a:tr>
            </a:tbl>
          </a:graphicData>
        </a:graphic>
      </p:graphicFrame>
      <p:sp>
        <p:nvSpPr>
          <p:cNvPr id="5" name="Rectangle 4"/>
          <p:cNvSpPr/>
          <p:nvPr/>
        </p:nvSpPr>
        <p:spPr>
          <a:xfrm>
            <a:off x="731520" y="4206240"/>
            <a:ext cx="7680960" cy="6400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251960"/>
            <a:ext cx="7315200" cy="548640"/>
          </a:xfrm>
          <a:prstGeom prst="rect">
            <a:avLst/>
          </a:prstGeom>
          <a:noFill/>
        </p:spPr>
        <p:txBody>
          <a:bodyPr wrap="square">
            <a:spAutoFit/>
          </a:bodyPr>
          <a:lstStyle/>
          <a:p>
            <a:pPr algn="l">
              <a:spcBef>
                <a:spcPts val="0"/>
              </a:spcBef>
              <a:spcAft>
                <a:spcPts val="0"/>
              </a:spcAft>
              <a:defRPr sz="1200" b="0">
                <a:solidFill>
                  <a:srgbClr val="FFFFFF"/>
                </a:solidFill>
                <a:latin typeface="Calibri"/>
              </a:defRPr>
            </a:pPr>
            <a:r>
              <a:t>핵심 인사이트: Claude 코드 관련 도서가 TOP 5 중 2권을 차지하며, 특정 AI 도구 심층 분석서가 시장 주도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바이브 코딩 트렌드 심층 분석</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463040"/>
            <a:ext cx="3200400" cy="36576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06240" y="1508760"/>
            <a:ext cx="1828800" cy="27432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바이브 코딩 (35%)</a:t>
            </a:r>
          </a:p>
        </p:txBody>
      </p:sp>
      <p:sp>
        <p:nvSpPr>
          <p:cNvPr id="6" name="Rectangle 5"/>
          <p:cNvSpPr/>
          <p:nvPr/>
        </p:nvSpPr>
        <p:spPr>
          <a:xfrm>
            <a:off x="914400" y="2011680"/>
            <a:ext cx="2286000" cy="36576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2057400"/>
            <a:ext cx="1828800" cy="27432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AI 도구 활용 (25%)</a:t>
            </a:r>
          </a:p>
        </p:txBody>
      </p:sp>
      <p:sp>
        <p:nvSpPr>
          <p:cNvPr id="8" name="Rectangle 7"/>
          <p:cNvSpPr/>
          <p:nvPr/>
        </p:nvSpPr>
        <p:spPr>
          <a:xfrm>
            <a:off x="914400" y="2560320"/>
            <a:ext cx="1828800" cy="3657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2606039"/>
            <a:ext cx="1828800" cy="27432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에듀테크 (20%)</a:t>
            </a:r>
          </a:p>
        </p:txBody>
      </p:sp>
      <p:sp>
        <p:nvSpPr>
          <p:cNvPr id="10" name="Rectangle 9"/>
          <p:cNvSpPr/>
          <p:nvPr/>
        </p:nvSpPr>
        <p:spPr>
          <a:xfrm>
            <a:off x="914400" y="3108960"/>
            <a:ext cx="1097280" cy="36576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3154679"/>
            <a:ext cx="1828800" cy="27432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AI 에이전트 (12%)</a:t>
            </a:r>
          </a:p>
        </p:txBody>
      </p:sp>
      <p:sp>
        <p:nvSpPr>
          <p:cNvPr id="12" name="Rectangle 11"/>
          <p:cNvSpPr/>
          <p:nvPr/>
        </p:nvSpPr>
        <p:spPr>
          <a:xfrm>
            <a:off x="914400" y="3657600"/>
            <a:ext cx="731519" cy="36576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0" y="3703320"/>
            <a:ext cx="1828800" cy="27432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기타 (8%)</a:t>
            </a:r>
          </a:p>
        </p:txBody>
      </p:sp>
      <p:sp>
        <p:nvSpPr>
          <p:cNvPr id="14" name="Rectangle 13"/>
          <p:cNvSpPr/>
          <p:nvPr/>
        </p:nvSpPr>
        <p:spPr>
          <a:xfrm>
            <a:off x="5029200" y="1371600"/>
            <a:ext cx="365760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6360" y="1463040"/>
            <a:ext cx="1371600" cy="548640"/>
          </a:xfrm>
          <a:prstGeom prst="rect">
            <a:avLst/>
          </a:prstGeom>
          <a:noFill/>
        </p:spPr>
        <p:txBody>
          <a:bodyPr wrap="square">
            <a:spAutoFit/>
          </a:bodyPr>
          <a:lstStyle/>
          <a:p>
            <a:pPr algn="l">
              <a:spcBef>
                <a:spcPts val="0"/>
              </a:spcBef>
              <a:spcAft>
                <a:spcPts val="0"/>
              </a:spcAft>
              <a:defRPr sz="2400" b="1">
                <a:solidFill>
                  <a:srgbClr val="5DADE2"/>
                </a:solidFill>
                <a:latin typeface="Georgia"/>
              </a:defRPr>
            </a:pPr>
            <a:r>
              <a:t>35%</a:t>
            </a:r>
          </a:p>
        </p:txBody>
      </p:sp>
      <p:sp>
        <p:nvSpPr>
          <p:cNvPr id="16" name="TextBox 15"/>
          <p:cNvSpPr txBox="1"/>
          <p:nvPr/>
        </p:nvSpPr>
        <p:spPr>
          <a:xfrm>
            <a:off x="6583680" y="1508760"/>
            <a:ext cx="2011680" cy="45720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바이브 코딩 관련 도서 비중</a:t>
            </a:r>
          </a:p>
        </p:txBody>
      </p:sp>
      <p:sp>
        <p:nvSpPr>
          <p:cNvPr id="17" name="Rectangle 16"/>
          <p:cNvSpPr/>
          <p:nvPr/>
        </p:nvSpPr>
        <p:spPr>
          <a:xfrm>
            <a:off x="5029200" y="2240280"/>
            <a:ext cx="365760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2331720"/>
            <a:ext cx="1371600" cy="548640"/>
          </a:xfrm>
          <a:prstGeom prst="rect">
            <a:avLst/>
          </a:prstGeom>
          <a:noFill/>
        </p:spPr>
        <p:txBody>
          <a:bodyPr wrap="square">
            <a:spAutoFit/>
          </a:bodyPr>
          <a:lstStyle/>
          <a:p>
            <a:pPr algn="l">
              <a:spcBef>
                <a:spcPts val="0"/>
              </a:spcBef>
              <a:spcAft>
                <a:spcPts val="0"/>
              </a:spcAft>
              <a:defRPr sz="2400" b="1">
                <a:solidFill>
                  <a:srgbClr val="5DADE2"/>
                </a:solidFill>
                <a:latin typeface="Georgia"/>
              </a:defRPr>
            </a:pPr>
            <a:r>
              <a:t>15권+</a:t>
            </a:r>
          </a:p>
        </p:txBody>
      </p:sp>
      <p:sp>
        <p:nvSpPr>
          <p:cNvPr id="19" name="TextBox 18"/>
          <p:cNvSpPr txBox="1"/>
          <p:nvPr/>
        </p:nvSpPr>
        <p:spPr>
          <a:xfrm>
            <a:off x="6583680" y="2377440"/>
            <a:ext cx="2011680" cy="45720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Claude Code 전용 가이드</a:t>
            </a:r>
          </a:p>
        </p:txBody>
      </p:sp>
      <p:sp>
        <p:nvSpPr>
          <p:cNvPr id="20" name="Rectangle 19"/>
          <p:cNvSpPr/>
          <p:nvPr/>
        </p:nvSpPr>
        <p:spPr>
          <a:xfrm>
            <a:off x="5029200" y="3108960"/>
            <a:ext cx="365760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6360" y="3200400"/>
            <a:ext cx="1371600" cy="548640"/>
          </a:xfrm>
          <a:prstGeom prst="rect">
            <a:avLst/>
          </a:prstGeom>
          <a:noFill/>
        </p:spPr>
        <p:txBody>
          <a:bodyPr wrap="square">
            <a:spAutoFit/>
          </a:bodyPr>
          <a:lstStyle/>
          <a:p>
            <a:pPr algn="l">
              <a:spcBef>
                <a:spcPts val="0"/>
              </a:spcBef>
              <a:spcAft>
                <a:spcPts val="0"/>
              </a:spcAft>
              <a:defRPr sz="2400" b="1">
                <a:solidFill>
                  <a:srgbClr val="5DADE2"/>
                </a:solidFill>
                <a:latin typeface="Georgia"/>
              </a:defRPr>
            </a:pPr>
            <a:r>
              <a:t>2.5만원</a:t>
            </a:r>
          </a:p>
        </p:txBody>
      </p:sp>
      <p:sp>
        <p:nvSpPr>
          <p:cNvPr id="22" name="TextBox 21"/>
          <p:cNvSpPr txBox="1"/>
          <p:nvPr/>
        </p:nvSpPr>
        <p:spPr>
          <a:xfrm>
            <a:off x="6583680" y="3246120"/>
            <a:ext cx="2011680" cy="45720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평균 판매가 (바이브 코딩)</a:t>
            </a:r>
          </a:p>
        </p:txBody>
      </p:sp>
      <p:sp>
        <p:nvSpPr>
          <p:cNvPr id="23" name="Rectangle 22"/>
          <p:cNvSpPr/>
          <p:nvPr/>
        </p:nvSpPr>
        <p:spPr>
          <a:xfrm>
            <a:off x="5029200" y="3977639"/>
            <a:ext cx="365760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069079"/>
            <a:ext cx="1371600" cy="548640"/>
          </a:xfrm>
          <a:prstGeom prst="rect">
            <a:avLst/>
          </a:prstGeom>
          <a:noFill/>
        </p:spPr>
        <p:txBody>
          <a:bodyPr wrap="square">
            <a:spAutoFit/>
          </a:bodyPr>
          <a:lstStyle/>
          <a:p>
            <a:pPr algn="l">
              <a:spcBef>
                <a:spcPts val="0"/>
              </a:spcBef>
              <a:spcAft>
                <a:spcPts val="0"/>
              </a:spcAft>
              <a:defRPr sz="2400" b="1">
                <a:solidFill>
                  <a:srgbClr val="5DADE2"/>
                </a:solidFill>
                <a:latin typeface="Georgia"/>
              </a:defRPr>
            </a:pPr>
            <a:r>
              <a:t>90%</a:t>
            </a:r>
          </a:p>
        </p:txBody>
      </p:sp>
      <p:sp>
        <p:nvSpPr>
          <p:cNvPr id="25" name="TextBox 24"/>
          <p:cNvSpPr txBox="1"/>
          <p:nvPr/>
        </p:nvSpPr>
        <p:spPr>
          <a:xfrm>
            <a:off x="6583680" y="4114800"/>
            <a:ext cx="2011680" cy="45720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할인율 10% 적용률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타겟 오디언스</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36576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54864" cy="155448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914400" cy="457200"/>
          </a:xfrm>
          <a:prstGeom prst="rect">
            <a:avLst/>
          </a:prstGeom>
          <a:noFill/>
        </p:spPr>
        <p:txBody>
          <a:bodyPr wrap="square">
            <a:spAutoFit/>
          </a:bodyPr>
          <a:lstStyle/>
          <a:p>
            <a:pPr algn="l">
              <a:spcBef>
                <a:spcPts val="0"/>
              </a:spcBef>
              <a:spcAft>
                <a:spcPts val="0"/>
              </a:spcAft>
              <a:defRPr sz="2800" b="1">
                <a:solidFill>
                  <a:srgbClr val="5DADE2"/>
                </a:solidFill>
                <a:latin typeface="Georgia"/>
              </a:defRPr>
            </a:pPr>
            <a:r>
              <a:t>35%</a:t>
            </a:r>
          </a:p>
        </p:txBody>
      </p:sp>
      <p:sp>
        <p:nvSpPr>
          <p:cNvPr id="7" name="TextBox 6"/>
          <p:cNvSpPr txBox="1"/>
          <p:nvPr/>
        </p:nvSpPr>
        <p:spPr>
          <a:xfrm>
            <a:off x="1828800" y="1508760"/>
            <a:ext cx="2377440" cy="365760"/>
          </a:xfrm>
          <a:prstGeom prst="rect">
            <a:avLst/>
          </a:prstGeom>
          <a:noFill/>
        </p:spPr>
        <p:txBody>
          <a:bodyPr wrap="square">
            <a:spAutoFit/>
          </a:bodyPr>
          <a:lstStyle/>
          <a:p>
            <a:pPr algn="l">
              <a:spcBef>
                <a:spcPts val="0"/>
              </a:spcBef>
              <a:spcAft>
                <a:spcPts val="0"/>
              </a:spcAft>
              <a:defRPr sz="1400" b="1">
                <a:solidFill>
                  <a:srgbClr val="2C3E50"/>
                </a:solidFill>
                <a:latin typeface="Calibri"/>
              </a:defRPr>
            </a:pPr>
            <a:r>
              <a:t>개발자 / 엔지니어</a:t>
            </a:r>
          </a:p>
        </p:txBody>
      </p:sp>
      <p:sp>
        <p:nvSpPr>
          <p:cNvPr id="8" name="TextBox 7"/>
          <p:cNvSpPr txBox="1"/>
          <p:nvPr/>
        </p:nvSpPr>
        <p:spPr>
          <a:xfrm>
            <a:off x="914400" y="2103120"/>
            <a:ext cx="3291840" cy="640080"/>
          </a:xfrm>
          <a:prstGeom prst="rect">
            <a:avLst/>
          </a:prstGeom>
          <a:noFill/>
        </p:spPr>
        <p:txBody>
          <a:bodyPr wrap="square">
            <a:spAutoFit/>
          </a:bodyPr>
          <a:lstStyle/>
          <a:p>
            <a:pPr algn="l">
              <a:spcBef>
                <a:spcPts val="0"/>
              </a:spcBef>
              <a:spcAft>
                <a:spcPts val="0"/>
              </a:spcAft>
              <a:defRPr sz="1100" b="0">
                <a:solidFill>
                  <a:srgbClr val="7F8C8D"/>
                </a:solidFill>
                <a:latin typeface="Calibri"/>
              </a:defRPr>
            </a:pPr>
            <a:r>
              <a:t>AI 도구를 활용한 생산성 향상에 관심 있는 주니어~미드레벨 개발자</a:t>
            </a:r>
          </a:p>
        </p:txBody>
      </p:sp>
      <p:sp>
        <p:nvSpPr>
          <p:cNvPr id="9" name="Rectangle 8"/>
          <p:cNvSpPr/>
          <p:nvPr/>
        </p:nvSpPr>
        <p:spPr>
          <a:xfrm>
            <a:off x="4663440" y="1371600"/>
            <a:ext cx="36576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371600"/>
            <a:ext cx="54864" cy="155448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508760"/>
            <a:ext cx="914400" cy="457200"/>
          </a:xfrm>
          <a:prstGeom prst="rect">
            <a:avLst/>
          </a:prstGeom>
          <a:noFill/>
        </p:spPr>
        <p:txBody>
          <a:bodyPr wrap="square">
            <a:spAutoFit/>
          </a:bodyPr>
          <a:lstStyle/>
          <a:p>
            <a:pPr algn="l">
              <a:spcBef>
                <a:spcPts val="0"/>
              </a:spcBef>
              <a:spcAft>
                <a:spcPts val="0"/>
              </a:spcAft>
              <a:defRPr sz="2800" b="1">
                <a:solidFill>
                  <a:srgbClr val="1ABC9C"/>
                </a:solidFill>
                <a:latin typeface="Georgia"/>
              </a:defRPr>
            </a:pPr>
            <a:r>
              <a:t>25%</a:t>
            </a:r>
          </a:p>
        </p:txBody>
      </p:sp>
      <p:sp>
        <p:nvSpPr>
          <p:cNvPr id="12" name="TextBox 11"/>
          <p:cNvSpPr txBox="1"/>
          <p:nvPr/>
        </p:nvSpPr>
        <p:spPr>
          <a:xfrm>
            <a:off x="5760720" y="1508760"/>
            <a:ext cx="2377440" cy="365760"/>
          </a:xfrm>
          <a:prstGeom prst="rect">
            <a:avLst/>
          </a:prstGeom>
          <a:noFill/>
        </p:spPr>
        <p:txBody>
          <a:bodyPr wrap="square">
            <a:spAutoFit/>
          </a:bodyPr>
          <a:lstStyle/>
          <a:p>
            <a:pPr algn="l">
              <a:spcBef>
                <a:spcPts val="0"/>
              </a:spcBef>
              <a:spcAft>
                <a:spcPts val="0"/>
              </a:spcAft>
              <a:defRPr sz="1400" b="1">
                <a:solidFill>
                  <a:srgbClr val="2C3E50"/>
                </a:solidFill>
                <a:latin typeface="Calibri"/>
              </a:defRPr>
            </a:pPr>
            <a:r>
              <a:t>교사 / 에듀테크</a:t>
            </a:r>
          </a:p>
        </p:txBody>
      </p:sp>
      <p:sp>
        <p:nvSpPr>
          <p:cNvPr id="13" name="TextBox 12"/>
          <p:cNvSpPr txBox="1"/>
          <p:nvPr/>
        </p:nvSpPr>
        <p:spPr>
          <a:xfrm>
            <a:off x="4846320" y="2103120"/>
            <a:ext cx="3291840" cy="640080"/>
          </a:xfrm>
          <a:prstGeom prst="rect">
            <a:avLst/>
          </a:prstGeom>
          <a:noFill/>
        </p:spPr>
        <p:txBody>
          <a:bodyPr wrap="square">
            <a:spAutoFit/>
          </a:bodyPr>
          <a:lstStyle/>
          <a:p>
            <a:pPr algn="l">
              <a:spcBef>
                <a:spcPts val="0"/>
              </a:spcBef>
              <a:spcAft>
                <a:spcPts val="0"/>
              </a:spcAft>
              <a:defRPr sz="1100" b="0">
                <a:solidFill>
                  <a:srgbClr val="7F8C8D"/>
                </a:solidFill>
                <a:latin typeface="Calibri"/>
              </a:defRPr>
            </a:pPr>
            <a:r>
              <a:t>수업과 업무에 AI를 적용하고 싶은 초중고교사 및 교육 관계자</a:t>
            </a:r>
          </a:p>
        </p:txBody>
      </p:sp>
      <p:sp>
        <p:nvSpPr>
          <p:cNvPr id="14" name="Rectangle 13"/>
          <p:cNvSpPr/>
          <p:nvPr/>
        </p:nvSpPr>
        <p:spPr>
          <a:xfrm>
            <a:off x="731520" y="3108960"/>
            <a:ext cx="36576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108960"/>
            <a:ext cx="54864" cy="15544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46120"/>
            <a:ext cx="914400" cy="45720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25%</a:t>
            </a:r>
          </a:p>
        </p:txBody>
      </p:sp>
      <p:sp>
        <p:nvSpPr>
          <p:cNvPr id="17" name="TextBox 16"/>
          <p:cNvSpPr txBox="1"/>
          <p:nvPr/>
        </p:nvSpPr>
        <p:spPr>
          <a:xfrm>
            <a:off x="1828800" y="3246120"/>
            <a:ext cx="2377440" cy="365760"/>
          </a:xfrm>
          <a:prstGeom prst="rect">
            <a:avLst/>
          </a:prstGeom>
          <a:noFill/>
        </p:spPr>
        <p:txBody>
          <a:bodyPr wrap="square">
            <a:spAutoFit/>
          </a:bodyPr>
          <a:lstStyle/>
          <a:p>
            <a:pPr algn="l">
              <a:spcBef>
                <a:spcPts val="0"/>
              </a:spcBef>
              <a:spcAft>
                <a:spcPts val="0"/>
              </a:spcAft>
              <a:defRPr sz="1400" b="1">
                <a:solidFill>
                  <a:srgbClr val="2C3E50"/>
                </a:solidFill>
                <a:latin typeface="Calibri"/>
              </a:defRPr>
            </a:pPr>
            <a:r>
              <a:t>비개발자 / 직장인</a:t>
            </a:r>
          </a:p>
        </p:txBody>
      </p:sp>
      <p:sp>
        <p:nvSpPr>
          <p:cNvPr id="18" name="TextBox 17"/>
          <p:cNvSpPr txBox="1"/>
          <p:nvPr/>
        </p:nvSpPr>
        <p:spPr>
          <a:xfrm>
            <a:off x="914400" y="3840480"/>
            <a:ext cx="3291840" cy="640080"/>
          </a:xfrm>
          <a:prstGeom prst="rect">
            <a:avLst/>
          </a:prstGeom>
          <a:noFill/>
        </p:spPr>
        <p:txBody>
          <a:bodyPr wrap="square">
            <a:spAutoFit/>
          </a:bodyPr>
          <a:lstStyle/>
          <a:p>
            <a:pPr algn="l">
              <a:spcBef>
                <a:spcPts val="0"/>
              </a:spcBef>
              <a:spcAft>
                <a:spcPts val="0"/>
              </a:spcAft>
              <a:defRPr sz="1100" b="0">
                <a:solidFill>
                  <a:srgbClr val="7F8C8D"/>
                </a:solidFill>
                <a:latin typeface="Calibri"/>
              </a:defRPr>
            </a:pPr>
            <a:r>
              <a:t>코딩 없이 AI로 업무 자동화를 원하는 일반 직장인 및 창업자</a:t>
            </a:r>
          </a:p>
        </p:txBody>
      </p:sp>
      <p:sp>
        <p:nvSpPr>
          <p:cNvPr id="19" name="Rectangle 18"/>
          <p:cNvSpPr/>
          <p:nvPr/>
        </p:nvSpPr>
        <p:spPr>
          <a:xfrm>
            <a:off x="4663440" y="3108960"/>
            <a:ext cx="36576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63440" y="3108960"/>
            <a:ext cx="54864" cy="155448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3246120"/>
            <a:ext cx="914400" cy="457200"/>
          </a:xfrm>
          <a:prstGeom prst="rect">
            <a:avLst/>
          </a:prstGeom>
          <a:noFill/>
        </p:spPr>
        <p:txBody>
          <a:bodyPr wrap="square">
            <a:spAutoFit/>
          </a:bodyPr>
          <a:lstStyle/>
          <a:p>
            <a:pPr algn="l">
              <a:spcBef>
                <a:spcPts val="0"/>
              </a:spcBef>
              <a:spcAft>
                <a:spcPts val="0"/>
              </a:spcAft>
              <a:defRPr sz="2800" b="1">
                <a:solidFill>
                  <a:srgbClr val="7F8C8D"/>
                </a:solidFill>
                <a:latin typeface="Georgia"/>
              </a:defRPr>
            </a:pPr>
            <a:r>
              <a:t>15%</a:t>
            </a:r>
          </a:p>
        </p:txBody>
      </p:sp>
      <p:sp>
        <p:nvSpPr>
          <p:cNvPr id="22" name="TextBox 21"/>
          <p:cNvSpPr txBox="1"/>
          <p:nvPr/>
        </p:nvSpPr>
        <p:spPr>
          <a:xfrm>
            <a:off x="5760720" y="3246120"/>
            <a:ext cx="2377440" cy="365760"/>
          </a:xfrm>
          <a:prstGeom prst="rect">
            <a:avLst/>
          </a:prstGeom>
          <a:noFill/>
        </p:spPr>
        <p:txBody>
          <a:bodyPr wrap="square">
            <a:spAutoFit/>
          </a:bodyPr>
          <a:lstStyle/>
          <a:p>
            <a:pPr algn="l">
              <a:spcBef>
                <a:spcPts val="0"/>
              </a:spcBef>
              <a:spcAft>
                <a:spcPts val="0"/>
              </a:spcAft>
              <a:defRPr sz="1400" b="1">
                <a:solidFill>
                  <a:srgbClr val="2C3E50"/>
                </a:solidFill>
                <a:latin typeface="Calibri"/>
              </a:defRPr>
            </a:pPr>
            <a:r>
              <a:t>창작자 / 프리랜서</a:t>
            </a:r>
          </a:p>
        </p:txBody>
      </p:sp>
      <p:sp>
        <p:nvSpPr>
          <p:cNvPr id="23" name="TextBox 22"/>
          <p:cNvSpPr txBox="1"/>
          <p:nvPr/>
        </p:nvSpPr>
        <p:spPr>
          <a:xfrm>
            <a:off x="4846320" y="3840480"/>
            <a:ext cx="3291840" cy="640080"/>
          </a:xfrm>
          <a:prstGeom prst="rect">
            <a:avLst/>
          </a:prstGeom>
          <a:noFill/>
        </p:spPr>
        <p:txBody>
          <a:bodyPr wrap="square">
            <a:spAutoFit/>
          </a:bodyPr>
          <a:lstStyle/>
          <a:p>
            <a:pPr algn="l">
              <a:spcBef>
                <a:spcPts val="0"/>
              </a:spcBef>
              <a:spcAft>
                <a:spcPts val="0"/>
              </a:spcAft>
              <a:defRPr sz="1100" b="0">
                <a:solidFill>
                  <a:srgbClr val="7F8C8D"/>
                </a:solidFill>
                <a:latin typeface="Calibri"/>
              </a:defRPr>
            </a:pPr>
            <a:r>
              <a:t>AI를 활용한 콘텐츠 제작, 디자인, 마케팅에 관심 있는 프리랜서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도서 컨셉: 제안 도서 개요</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2926080" cy="347472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560320" cy="1828800"/>
          </a:xfrm>
          <a:prstGeom prst="rect">
            <a:avLst/>
          </a:prstGeom>
          <a:noFill/>
        </p:spPr>
        <p:txBody>
          <a:bodyPr wrap="square">
            <a:spAutoFit/>
          </a:bodyPr>
          <a:lstStyle/>
          <a:p>
            <a:pPr algn="ctr">
              <a:spcBef>
                <a:spcPts val="0"/>
              </a:spcBef>
              <a:spcAft>
                <a:spcPts val="0"/>
              </a:spcAft>
              <a:defRPr sz="2200" b="1">
                <a:solidFill>
                  <a:srgbClr val="FFFFFF"/>
                </a:solidFill>
                <a:latin typeface="Georgia"/>
              </a:defRPr>
            </a:pPr>
            <a:r>
              <a:t>바이브 코딩</a:t>
            </a:r>
            <a:br/>
            <a:r>
              <a:t>마스터</a:t>
            </a:r>
            <a:br/>
            <a:r>
              <a:t>클로드 코드</a:t>
            </a:r>
            <a:br/>
            <a:r>
              <a:t>완전 정복</a:t>
            </a:r>
          </a:p>
        </p:txBody>
      </p:sp>
      <p:sp>
        <p:nvSpPr>
          <p:cNvPr id="6" name="Rectangle 5"/>
          <p:cNvSpPr/>
          <p:nvPr/>
        </p:nvSpPr>
        <p:spPr>
          <a:xfrm>
            <a:off x="1371600" y="3566160"/>
            <a:ext cx="201168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749039"/>
            <a:ext cx="2560320" cy="365760"/>
          </a:xfrm>
          <a:prstGeom prst="rect">
            <a:avLst/>
          </a:prstGeom>
          <a:noFill/>
        </p:spPr>
        <p:txBody>
          <a:bodyPr wrap="square">
            <a:spAutoFit/>
          </a:bodyPr>
          <a:lstStyle/>
          <a:p>
            <a:pPr algn="ctr">
              <a:spcBef>
                <a:spcPts val="0"/>
              </a:spcBef>
              <a:spcAft>
                <a:spcPts val="0"/>
              </a:spcAft>
              <a:defRPr sz="1200" b="0">
                <a:solidFill>
                  <a:srgbClr val="BDC3C7"/>
                </a:solidFill>
                <a:latin typeface="Calibri"/>
              </a:defRPr>
            </a:pPr>
            <a:r>
              <a:t>ABC Publishing</a:t>
            </a:r>
          </a:p>
        </p:txBody>
      </p:sp>
      <p:sp>
        <p:nvSpPr>
          <p:cNvPr id="8" name="TextBox 7"/>
          <p:cNvSpPr txBox="1"/>
          <p:nvPr/>
        </p:nvSpPr>
        <p:spPr>
          <a:xfrm>
            <a:off x="4114800" y="1371600"/>
            <a:ext cx="1371600" cy="365760"/>
          </a:xfrm>
          <a:prstGeom prst="rect">
            <a:avLst/>
          </a:prstGeom>
          <a:noFill/>
        </p:spPr>
        <p:txBody>
          <a:bodyPr wrap="square">
            <a:spAutoFit/>
          </a:bodyPr>
          <a:lstStyle/>
          <a:p>
            <a:pPr algn="l">
              <a:spcBef>
                <a:spcPts val="0"/>
              </a:spcBef>
              <a:spcAft>
                <a:spcPts val="0"/>
              </a:spcAft>
              <a:defRPr sz="1100" b="1">
                <a:solidFill>
                  <a:srgbClr val="7F8C8D"/>
                </a:solidFill>
                <a:latin typeface="Calibri"/>
              </a:defRPr>
            </a:pPr>
            <a:r>
              <a:t>도서명</a:t>
            </a:r>
          </a:p>
        </p:txBody>
      </p:sp>
      <p:sp>
        <p:nvSpPr>
          <p:cNvPr id="9" name="TextBox 8"/>
          <p:cNvSpPr txBox="1"/>
          <p:nvPr/>
        </p:nvSpPr>
        <p:spPr>
          <a:xfrm>
            <a:off x="5486400" y="1371600"/>
            <a:ext cx="3200400" cy="36576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바이브 코딩 마스터: 클로드 코드 완전 정복</a:t>
            </a:r>
          </a:p>
        </p:txBody>
      </p:sp>
      <p:sp>
        <p:nvSpPr>
          <p:cNvPr id="10" name="Rectangle 9"/>
          <p:cNvSpPr/>
          <p:nvPr/>
        </p:nvSpPr>
        <p:spPr>
          <a:xfrm>
            <a:off x="4114800" y="1828800"/>
            <a:ext cx="4572000" cy="9144"/>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965960"/>
            <a:ext cx="1371600" cy="365760"/>
          </a:xfrm>
          <a:prstGeom prst="rect">
            <a:avLst/>
          </a:prstGeom>
          <a:noFill/>
        </p:spPr>
        <p:txBody>
          <a:bodyPr wrap="square">
            <a:spAutoFit/>
          </a:bodyPr>
          <a:lstStyle/>
          <a:p>
            <a:pPr algn="l">
              <a:spcBef>
                <a:spcPts val="0"/>
              </a:spcBef>
              <a:spcAft>
                <a:spcPts val="0"/>
              </a:spcAft>
              <a:defRPr sz="1100" b="1">
                <a:solidFill>
                  <a:srgbClr val="7F8C8D"/>
                </a:solidFill>
                <a:latin typeface="Calibri"/>
              </a:defRPr>
            </a:pPr>
            <a:r>
              <a:t>부제</a:t>
            </a:r>
          </a:p>
        </p:txBody>
      </p:sp>
      <p:sp>
        <p:nvSpPr>
          <p:cNvPr id="12" name="TextBox 11"/>
          <p:cNvSpPr txBox="1"/>
          <p:nvPr/>
        </p:nvSpPr>
        <p:spPr>
          <a:xfrm>
            <a:off x="5486400" y="1965960"/>
            <a:ext cx="3200400" cy="36576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코딩 없이 AI로 만드는 실전 앱 개발 가이드</a:t>
            </a:r>
          </a:p>
        </p:txBody>
      </p:sp>
      <p:sp>
        <p:nvSpPr>
          <p:cNvPr id="13" name="Rectangle 12"/>
          <p:cNvSpPr/>
          <p:nvPr/>
        </p:nvSpPr>
        <p:spPr>
          <a:xfrm>
            <a:off x="4114800" y="2423160"/>
            <a:ext cx="4572000" cy="9144"/>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0" y="2560320"/>
            <a:ext cx="1371600" cy="365760"/>
          </a:xfrm>
          <a:prstGeom prst="rect">
            <a:avLst/>
          </a:prstGeom>
          <a:noFill/>
        </p:spPr>
        <p:txBody>
          <a:bodyPr wrap="square">
            <a:spAutoFit/>
          </a:bodyPr>
          <a:lstStyle/>
          <a:p>
            <a:pPr algn="l">
              <a:spcBef>
                <a:spcPts val="0"/>
              </a:spcBef>
              <a:spcAft>
                <a:spcPts val="0"/>
              </a:spcAft>
              <a:defRPr sz="1100" b="1">
                <a:solidFill>
                  <a:srgbClr val="7F8C8D"/>
                </a:solidFill>
                <a:latin typeface="Calibri"/>
              </a:defRPr>
            </a:pPr>
            <a:r>
              <a:t>대상</a:t>
            </a:r>
          </a:p>
        </p:txBody>
      </p:sp>
      <p:sp>
        <p:nvSpPr>
          <p:cNvPr id="15" name="TextBox 14"/>
          <p:cNvSpPr txBox="1"/>
          <p:nvPr/>
        </p:nvSpPr>
        <p:spPr>
          <a:xfrm>
            <a:off x="5486400" y="2560320"/>
            <a:ext cx="3200400" cy="36576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비개발자~초급 개발자, 교사, 직장인</a:t>
            </a:r>
          </a:p>
        </p:txBody>
      </p:sp>
      <p:sp>
        <p:nvSpPr>
          <p:cNvPr id="16" name="Rectangle 15"/>
          <p:cNvSpPr/>
          <p:nvPr/>
        </p:nvSpPr>
        <p:spPr>
          <a:xfrm>
            <a:off x="4114800" y="3017520"/>
            <a:ext cx="4572000" cy="9144"/>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3154680"/>
            <a:ext cx="1371600" cy="365760"/>
          </a:xfrm>
          <a:prstGeom prst="rect">
            <a:avLst/>
          </a:prstGeom>
          <a:noFill/>
        </p:spPr>
        <p:txBody>
          <a:bodyPr wrap="square">
            <a:spAutoFit/>
          </a:bodyPr>
          <a:lstStyle/>
          <a:p>
            <a:pPr algn="l">
              <a:spcBef>
                <a:spcPts val="0"/>
              </a:spcBef>
              <a:spcAft>
                <a:spcPts val="0"/>
              </a:spcAft>
              <a:defRPr sz="1100" b="1">
                <a:solidFill>
                  <a:srgbClr val="7F8C8D"/>
                </a:solidFill>
                <a:latin typeface="Calibri"/>
              </a:defRPr>
            </a:pPr>
            <a:r>
              <a:t>분량</a:t>
            </a:r>
          </a:p>
        </p:txBody>
      </p:sp>
      <p:sp>
        <p:nvSpPr>
          <p:cNvPr id="18" name="TextBox 17"/>
          <p:cNvSpPr txBox="1"/>
          <p:nvPr/>
        </p:nvSpPr>
        <p:spPr>
          <a:xfrm>
            <a:off x="5486400" y="3154680"/>
            <a:ext cx="3200400" cy="36576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약 400페이지 / 12개 챕터</a:t>
            </a:r>
          </a:p>
        </p:txBody>
      </p:sp>
      <p:sp>
        <p:nvSpPr>
          <p:cNvPr id="19" name="Rectangle 18"/>
          <p:cNvSpPr/>
          <p:nvPr/>
        </p:nvSpPr>
        <p:spPr>
          <a:xfrm>
            <a:off x="4114800" y="3611880"/>
            <a:ext cx="4572000" cy="9144"/>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0" y="3749039"/>
            <a:ext cx="1371600" cy="365760"/>
          </a:xfrm>
          <a:prstGeom prst="rect">
            <a:avLst/>
          </a:prstGeom>
          <a:noFill/>
        </p:spPr>
        <p:txBody>
          <a:bodyPr wrap="square">
            <a:spAutoFit/>
          </a:bodyPr>
          <a:lstStyle/>
          <a:p>
            <a:pPr algn="l">
              <a:spcBef>
                <a:spcPts val="0"/>
              </a:spcBef>
              <a:spcAft>
                <a:spcPts val="0"/>
              </a:spcAft>
              <a:defRPr sz="1100" b="1">
                <a:solidFill>
                  <a:srgbClr val="7F8C8D"/>
                </a:solidFill>
                <a:latin typeface="Calibri"/>
              </a:defRPr>
            </a:pPr>
            <a:r>
              <a:t>출간 목표</a:t>
            </a:r>
          </a:p>
        </p:txBody>
      </p:sp>
      <p:sp>
        <p:nvSpPr>
          <p:cNvPr id="21" name="TextBox 20"/>
          <p:cNvSpPr txBox="1"/>
          <p:nvPr/>
        </p:nvSpPr>
        <p:spPr>
          <a:xfrm>
            <a:off x="5486400" y="3749039"/>
            <a:ext cx="3200400" cy="36576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2026년 4분기</a:t>
            </a:r>
          </a:p>
        </p:txBody>
      </p:sp>
      <p:sp>
        <p:nvSpPr>
          <p:cNvPr id="22" name="Rectangle 21"/>
          <p:cNvSpPr/>
          <p:nvPr/>
        </p:nvSpPr>
        <p:spPr>
          <a:xfrm>
            <a:off x="4114800" y="4206240"/>
            <a:ext cx="4572000" cy="9144"/>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0" y="4343400"/>
            <a:ext cx="1371600" cy="365760"/>
          </a:xfrm>
          <a:prstGeom prst="rect">
            <a:avLst/>
          </a:prstGeom>
          <a:noFill/>
        </p:spPr>
        <p:txBody>
          <a:bodyPr wrap="square">
            <a:spAutoFit/>
          </a:bodyPr>
          <a:lstStyle/>
          <a:p>
            <a:pPr algn="l">
              <a:spcBef>
                <a:spcPts val="0"/>
              </a:spcBef>
              <a:spcAft>
                <a:spcPts val="0"/>
              </a:spcAft>
              <a:defRPr sz="1100" b="1">
                <a:solidFill>
                  <a:srgbClr val="7F8C8D"/>
                </a:solidFill>
                <a:latin typeface="Calibri"/>
              </a:defRPr>
            </a:pPr>
            <a:r>
              <a:t>가격대</a:t>
            </a:r>
          </a:p>
        </p:txBody>
      </p:sp>
      <p:sp>
        <p:nvSpPr>
          <p:cNvPr id="24" name="TextBox 23"/>
          <p:cNvSpPr txBox="1"/>
          <p:nvPr/>
        </p:nvSpPr>
        <p:spPr>
          <a:xfrm>
            <a:off x="5486400" y="4343400"/>
            <a:ext cx="3200400" cy="365760"/>
          </a:xfrm>
          <a:prstGeom prst="rect">
            <a:avLst/>
          </a:prstGeom>
          <a:noFill/>
        </p:spPr>
        <p:txBody>
          <a:bodyPr wrap="square">
            <a:spAutoFit/>
          </a:bodyPr>
          <a:lstStyle/>
          <a:p>
            <a:pPr algn="l">
              <a:spcBef>
                <a:spcPts val="0"/>
              </a:spcBef>
              <a:spcAft>
                <a:spcPts val="0"/>
              </a:spcAft>
              <a:defRPr sz="1200" b="0">
                <a:solidFill>
                  <a:srgbClr val="2C3E50"/>
                </a:solidFill>
                <a:latin typeface="Calibri"/>
              </a:defRPr>
            </a:pPr>
            <a:r>
              <a:t>25,000~28,000원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챕터 구성</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371600"/>
            <a:ext cx="365760" cy="36576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01</a:t>
            </a:r>
          </a:p>
        </p:txBody>
      </p:sp>
      <p:sp>
        <p:nvSpPr>
          <p:cNvPr id="6" name="TextBox 5"/>
          <p:cNvSpPr txBox="1"/>
          <p:nvPr/>
        </p:nvSpPr>
        <p:spPr>
          <a:xfrm>
            <a:off x="1371600" y="1325880"/>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바이브 코딩이란?</a:t>
            </a:r>
          </a:p>
        </p:txBody>
      </p:sp>
      <p:sp>
        <p:nvSpPr>
          <p:cNvPr id="7" name="TextBox 6"/>
          <p:cNvSpPr txBox="1"/>
          <p:nvPr/>
        </p:nvSpPr>
        <p:spPr>
          <a:xfrm>
            <a:off x="1371600" y="1581912"/>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개념, 역사, 왜 지금 필요한가</a:t>
            </a:r>
          </a:p>
        </p:txBody>
      </p:sp>
      <p:sp>
        <p:nvSpPr>
          <p:cNvPr id="8" name="Oval 7"/>
          <p:cNvSpPr/>
          <p:nvPr/>
        </p:nvSpPr>
        <p:spPr>
          <a:xfrm>
            <a:off x="822960" y="1938527"/>
            <a:ext cx="365760" cy="36576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38527"/>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02</a:t>
            </a:r>
          </a:p>
        </p:txBody>
      </p:sp>
      <p:sp>
        <p:nvSpPr>
          <p:cNvPr id="10" name="TextBox 9"/>
          <p:cNvSpPr txBox="1"/>
          <p:nvPr/>
        </p:nvSpPr>
        <p:spPr>
          <a:xfrm>
            <a:off x="1371600" y="1892807"/>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Claude Code 설치와 환경 설정</a:t>
            </a:r>
          </a:p>
        </p:txBody>
      </p:sp>
      <p:sp>
        <p:nvSpPr>
          <p:cNvPr id="11" name="TextBox 10"/>
          <p:cNvSpPr txBox="1"/>
          <p:nvPr/>
        </p:nvSpPr>
        <p:spPr>
          <a:xfrm>
            <a:off x="1371600" y="2148839"/>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API 키 발급, 개발 환경 구성</a:t>
            </a:r>
          </a:p>
        </p:txBody>
      </p:sp>
      <p:sp>
        <p:nvSpPr>
          <p:cNvPr id="12" name="Oval 11"/>
          <p:cNvSpPr/>
          <p:nvPr/>
        </p:nvSpPr>
        <p:spPr>
          <a:xfrm>
            <a:off x="822960" y="2505456"/>
            <a:ext cx="365760" cy="365760"/>
          </a:xfrm>
          <a:prstGeom prst="ellipse">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505456"/>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03</a:t>
            </a:r>
          </a:p>
        </p:txBody>
      </p:sp>
      <p:sp>
        <p:nvSpPr>
          <p:cNvPr id="14" name="TextBox 13"/>
          <p:cNvSpPr txBox="1"/>
          <p:nvPr/>
        </p:nvSpPr>
        <p:spPr>
          <a:xfrm>
            <a:off x="1371600" y="2459736"/>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첫 번째 프로젝트: To-Do 앱</a:t>
            </a:r>
          </a:p>
        </p:txBody>
      </p:sp>
      <p:sp>
        <p:nvSpPr>
          <p:cNvPr id="15" name="TextBox 14"/>
          <p:cNvSpPr txBox="1"/>
          <p:nvPr/>
        </p:nvSpPr>
        <p:spPr>
          <a:xfrm>
            <a:off x="1371600" y="2715768"/>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기초 개념 학습과 실습</a:t>
            </a:r>
          </a:p>
        </p:txBody>
      </p:sp>
      <p:sp>
        <p:nvSpPr>
          <p:cNvPr id="16" name="Oval 15"/>
          <p:cNvSpPr/>
          <p:nvPr/>
        </p:nvSpPr>
        <p:spPr>
          <a:xfrm>
            <a:off x="822960" y="3072383"/>
            <a:ext cx="365760" cy="365760"/>
          </a:xfrm>
          <a:prstGeom prst="ellipse">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072383"/>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04</a:t>
            </a:r>
          </a:p>
        </p:txBody>
      </p:sp>
      <p:sp>
        <p:nvSpPr>
          <p:cNvPr id="18" name="TextBox 17"/>
          <p:cNvSpPr txBox="1"/>
          <p:nvPr/>
        </p:nvSpPr>
        <p:spPr>
          <a:xfrm>
            <a:off x="1371600" y="3026663"/>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프롬프트 엔지니어링 기초</a:t>
            </a:r>
          </a:p>
        </p:txBody>
      </p:sp>
      <p:sp>
        <p:nvSpPr>
          <p:cNvPr id="19" name="TextBox 18"/>
          <p:cNvSpPr txBox="1"/>
          <p:nvPr/>
        </p:nvSpPr>
        <p:spPr>
          <a:xfrm>
            <a:off x="1371600" y="3282696"/>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효과적인 AI와의 대화법</a:t>
            </a:r>
          </a:p>
        </p:txBody>
      </p:sp>
      <p:sp>
        <p:nvSpPr>
          <p:cNvPr id="20" name="Oval 19"/>
          <p:cNvSpPr/>
          <p:nvPr/>
        </p:nvSpPr>
        <p:spPr>
          <a:xfrm>
            <a:off x="822960" y="3639311"/>
            <a:ext cx="365760" cy="365760"/>
          </a:xfrm>
          <a:prstGeom prst="ellipse">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639311"/>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05</a:t>
            </a:r>
          </a:p>
        </p:txBody>
      </p:sp>
      <p:sp>
        <p:nvSpPr>
          <p:cNvPr id="22" name="TextBox 21"/>
          <p:cNvSpPr txBox="1"/>
          <p:nvPr/>
        </p:nvSpPr>
        <p:spPr>
          <a:xfrm>
            <a:off x="1371600" y="3593591"/>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데이터베이스 연동 실전</a:t>
            </a:r>
          </a:p>
        </p:txBody>
      </p:sp>
      <p:sp>
        <p:nvSpPr>
          <p:cNvPr id="23" name="TextBox 22"/>
          <p:cNvSpPr txBox="1"/>
          <p:nvPr/>
        </p:nvSpPr>
        <p:spPr>
          <a:xfrm>
            <a:off x="1371600" y="3849624"/>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Supabase, Firebase 연동</a:t>
            </a:r>
          </a:p>
        </p:txBody>
      </p:sp>
      <p:sp>
        <p:nvSpPr>
          <p:cNvPr id="24" name="Oval 23"/>
          <p:cNvSpPr/>
          <p:nvPr/>
        </p:nvSpPr>
        <p:spPr>
          <a:xfrm>
            <a:off x="822960" y="4206240"/>
            <a:ext cx="365760" cy="365760"/>
          </a:xfrm>
          <a:prstGeom prst="ellipse">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206240"/>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06</a:t>
            </a:r>
          </a:p>
        </p:txBody>
      </p:sp>
      <p:sp>
        <p:nvSpPr>
          <p:cNvPr id="26" name="TextBox 25"/>
          <p:cNvSpPr txBox="1"/>
          <p:nvPr/>
        </p:nvSpPr>
        <p:spPr>
          <a:xfrm>
            <a:off x="1371600" y="4160520"/>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인증과 보안</a:t>
            </a:r>
          </a:p>
        </p:txBody>
      </p:sp>
      <p:sp>
        <p:nvSpPr>
          <p:cNvPr id="27" name="TextBox 26"/>
          <p:cNvSpPr txBox="1"/>
          <p:nvPr/>
        </p:nvSpPr>
        <p:spPr>
          <a:xfrm>
            <a:off x="1371600" y="4416552"/>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로그인, 회원가입 구현</a:t>
            </a:r>
          </a:p>
        </p:txBody>
      </p:sp>
      <p:sp>
        <p:nvSpPr>
          <p:cNvPr id="28" name="Oval 27"/>
          <p:cNvSpPr/>
          <p:nvPr/>
        </p:nvSpPr>
        <p:spPr>
          <a:xfrm>
            <a:off x="4846320" y="1371600"/>
            <a:ext cx="365760" cy="365760"/>
          </a:xfrm>
          <a:prstGeom prst="ellipse">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46320" y="1371600"/>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07</a:t>
            </a:r>
          </a:p>
        </p:txBody>
      </p:sp>
      <p:sp>
        <p:nvSpPr>
          <p:cNvPr id="30" name="TextBox 29"/>
          <p:cNvSpPr txBox="1"/>
          <p:nvPr/>
        </p:nvSpPr>
        <p:spPr>
          <a:xfrm>
            <a:off x="5394960" y="1325880"/>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UI/UX 디자인 자동화</a:t>
            </a:r>
          </a:p>
        </p:txBody>
      </p:sp>
      <p:sp>
        <p:nvSpPr>
          <p:cNvPr id="31" name="TextBox 30"/>
          <p:cNvSpPr txBox="1"/>
          <p:nvPr/>
        </p:nvSpPr>
        <p:spPr>
          <a:xfrm>
            <a:off x="5394960" y="1581912"/>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AI 기반 화면 설계</a:t>
            </a:r>
          </a:p>
        </p:txBody>
      </p:sp>
      <p:sp>
        <p:nvSpPr>
          <p:cNvPr id="32" name="Oval 31"/>
          <p:cNvSpPr/>
          <p:nvPr/>
        </p:nvSpPr>
        <p:spPr>
          <a:xfrm>
            <a:off x="4846320" y="1938527"/>
            <a:ext cx="365760" cy="365760"/>
          </a:xfrm>
          <a:prstGeom prst="ellipse">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46320" y="1938527"/>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08</a:t>
            </a:r>
          </a:p>
        </p:txBody>
      </p:sp>
      <p:sp>
        <p:nvSpPr>
          <p:cNvPr id="34" name="TextBox 33"/>
          <p:cNvSpPr txBox="1"/>
          <p:nvPr/>
        </p:nvSpPr>
        <p:spPr>
          <a:xfrm>
            <a:off x="5394960" y="1892807"/>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배포와 런칭</a:t>
            </a:r>
          </a:p>
        </p:txBody>
      </p:sp>
      <p:sp>
        <p:nvSpPr>
          <p:cNvPr id="35" name="TextBox 34"/>
          <p:cNvSpPr txBox="1"/>
          <p:nvPr/>
        </p:nvSpPr>
        <p:spPr>
          <a:xfrm>
            <a:off x="5394960" y="2148839"/>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Vercel, Netlify 배포 실전</a:t>
            </a:r>
          </a:p>
        </p:txBody>
      </p:sp>
      <p:sp>
        <p:nvSpPr>
          <p:cNvPr id="36" name="Oval 35"/>
          <p:cNvSpPr/>
          <p:nvPr/>
        </p:nvSpPr>
        <p:spPr>
          <a:xfrm>
            <a:off x="4846320" y="2505456"/>
            <a:ext cx="365760" cy="365760"/>
          </a:xfrm>
          <a:prstGeom prst="ellipse">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46320" y="2505456"/>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09</a:t>
            </a:r>
          </a:p>
        </p:txBody>
      </p:sp>
      <p:sp>
        <p:nvSpPr>
          <p:cNvPr id="38" name="TextBox 37"/>
          <p:cNvSpPr txBox="1"/>
          <p:nvPr/>
        </p:nvSpPr>
        <p:spPr>
          <a:xfrm>
            <a:off x="5394960" y="2459736"/>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모바일 앱 만들기</a:t>
            </a:r>
          </a:p>
        </p:txBody>
      </p:sp>
      <p:sp>
        <p:nvSpPr>
          <p:cNvPr id="39" name="TextBox 38"/>
          <p:cNvSpPr txBox="1"/>
          <p:nvPr/>
        </p:nvSpPr>
        <p:spPr>
          <a:xfrm>
            <a:off x="5394960" y="2715768"/>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React Native 연동</a:t>
            </a:r>
          </a:p>
        </p:txBody>
      </p:sp>
      <p:sp>
        <p:nvSpPr>
          <p:cNvPr id="40" name="Oval 39"/>
          <p:cNvSpPr/>
          <p:nvPr/>
        </p:nvSpPr>
        <p:spPr>
          <a:xfrm>
            <a:off x="4846320" y="3072383"/>
            <a:ext cx="365760" cy="365760"/>
          </a:xfrm>
          <a:prstGeom prst="ellipse">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46320" y="3072383"/>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10</a:t>
            </a:r>
          </a:p>
        </p:txBody>
      </p:sp>
      <p:sp>
        <p:nvSpPr>
          <p:cNvPr id="42" name="TextBox 41"/>
          <p:cNvSpPr txBox="1"/>
          <p:nvPr/>
        </p:nvSpPr>
        <p:spPr>
          <a:xfrm>
            <a:off x="5394960" y="3026663"/>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수익화 전략</a:t>
            </a:r>
          </a:p>
        </p:txBody>
      </p:sp>
      <p:sp>
        <p:nvSpPr>
          <p:cNvPr id="43" name="TextBox 42"/>
          <p:cNvSpPr txBox="1"/>
          <p:nvPr/>
        </p:nvSpPr>
        <p:spPr>
          <a:xfrm>
            <a:off x="5394960" y="3282696"/>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인앱결제, 구독 모델</a:t>
            </a:r>
          </a:p>
        </p:txBody>
      </p:sp>
      <p:sp>
        <p:nvSpPr>
          <p:cNvPr id="44" name="Oval 43"/>
          <p:cNvSpPr/>
          <p:nvPr/>
        </p:nvSpPr>
        <p:spPr>
          <a:xfrm>
            <a:off x="4846320" y="3639311"/>
            <a:ext cx="365760" cy="36576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3639311"/>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11</a:t>
            </a:r>
          </a:p>
        </p:txBody>
      </p:sp>
      <p:sp>
        <p:nvSpPr>
          <p:cNvPr id="46" name="TextBox 45"/>
          <p:cNvSpPr txBox="1"/>
          <p:nvPr/>
        </p:nvSpPr>
        <p:spPr>
          <a:xfrm>
            <a:off x="5394960" y="3593591"/>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실전 프로젝트 3선</a:t>
            </a:r>
          </a:p>
        </p:txBody>
      </p:sp>
      <p:sp>
        <p:nvSpPr>
          <p:cNvPr id="47" name="TextBox 46"/>
          <p:cNvSpPr txBox="1"/>
          <p:nvPr/>
        </p:nvSpPr>
        <p:spPr>
          <a:xfrm>
            <a:off x="5394960" y="3849624"/>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블로그, 쇼핑몰, SaaS</a:t>
            </a:r>
          </a:p>
        </p:txBody>
      </p:sp>
      <p:sp>
        <p:nvSpPr>
          <p:cNvPr id="48" name="Oval 47"/>
          <p:cNvSpPr/>
          <p:nvPr/>
        </p:nvSpPr>
        <p:spPr>
          <a:xfrm>
            <a:off x="4846320" y="4206240"/>
            <a:ext cx="365760" cy="36576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46320" y="4206240"/>
            <a:ext cx="365760" cy="365760"/>
          </a:xfrm>
          <a:prstGeom prst="rect">
            <a:avLst/>
          </a:prstGeom>
          <a:noFill/>
        </p:spPr>
        <p:txBody>
          <a:bodyPr wrap="square">
            <a:spAutoFit/>
          </a:bodyPr>
          <a:lstStyle/>
          <a:p>
            <a:pPr algn="ctr">
              <a:spcBef>
                <a:spcPts val="0"/>
              </a:spcBef>
              <a:spcAft>
                <a:spcPts val="0"/>
              </a:spcAft>
              <a:defRPr sz="1100" b="1">
                <a:solidFill>
                  <a:srgbClr val="FFFFFF"/>
                </a:solidFill>
                <a:latin typeface="Calibri"/>
              </a:defRPr>
            </a:pPr>
            <a:r>
              <a:t>12</a:t>
            </a:r>
          </a:p>
        </p:txBody>
      </p:sp>
      <p:sp>
        <p:nvSpPr>
          <p:cNvPr id="50" name="TextBox 49"/>
          <p:cNvSpPr txBox="1"/>
          <p:nvPr/>
        </p:nvSpPr>
        <p:spPr>
          <a:xfrm>
            <a:off x="5394960" y="4160520"/>
            <a:ext cx="3200400" cy="27432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미래 전망과 확장</a:t>
            </a:r>
          </a:p>
        </p:txBody>
      </p:sp>
      <p:sp>
        <p:nvSpPr>
          <p:cNvPr id="51" name="TextBox 50"/>
          <p:cNvSpPr txBox="1"/>
          <p:nvPr/>
        </p:nvSpPr>
        <p:spPr>
          <a:xfrm>
            <a:off x="5394960" y="4416552"/>
            <a:ext cx="3200400" cy="22860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AI 코딩의 진화 방향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경쟁 도서 분석</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8229600" cy="3200400"/>
        </p:xfrm>
        <a:graphic>
          <a:graphicData uri="http://schemas.openxmlformats.org/drawingml/2006/table">
            <a:tbl>
              <a:tblPr firstRow="1" bandRow="1">
                <a:tableStyleId>{5C22544A-7EE6-4342-B048-85BDC9FD1C3A}</a:tableStyleId>
              </a:tblPr>
              <a:tblGrid>
                <a:gridCol w="1097280"/>
                <a:gridCol w="2194560"/>
                <a:gridCol w="2468880"/>
                <a:gridCol w="2468880"/>
              </a:tblGrid>
              <a:tr h="400050">
                <a:tc>
                  <a:txBody>
                    <a:bodyPr/>
                    <a:lstStyle/>
                    <a:p>
                      <a:pPr algn="ctr">
                        <a:defRPr sz="1000" b="1">
                          <a:solidFill>
                            <a:srgbClr val="FFFFFF"/>
                          </a:solidFill>
                          <a:latin typeface="Calibri"/>
                        </a:defRPr>
                      </a:pPr>
                      <a:r>
                        <a:t>구분</a:t>
                      </a:r>
                    </a:p>
                  </a:txBody>
                  <a:tcPr>
                    <a:solidFill>
                      <a:srgbClr val="2C3E50"/>
                    </a:solidFill>
                  </a:tcPr>
                </a:tc>
                <a:tc>
                  <a:txBody>
                    <a:bodyPr/>
                    <a:lstStyle/>
                    <a:p>
                      <a:pPr algn="ctr">
                        <a:defRPr sz="1000" b="1">
                          <a:solidFill>
                            <a:srgbClr val="FFFFFF"/>
                          </a:solidFill>
                          <a:latin typeface="Calibri"/>
                        </a:defRPr>
                      </a:pPr>
                      <a:r>
                        <a:t>경쟁 도서 A</a:t>
                      </a:r>
                    </a:p>
                    <a:p>
                      <a:r>
                        <a:t>(클로드 코워크)</a:t>
                      </a:r>
                    </a:p>
                  </a:txBody>
                  <a:tcPr>
                    <a:solidFill>
                      <a:srgbClr val="2C3E50"/>
                    </a:solidFill>
                  </a:tcPr>
                </a:tc>
                <a:tc>
                  <a:txBody>
                    <a:bodyPr/>
                    <a:lstStyle/>
                    <a:p>
                      <a:pPr algn="ctr">
                        <a:defRPr sz="1000" b="1">
                          <a:solidFill>
                            <a:srgbClr val="FFFFFF"/>
                          </a:solidFill>
                          <a:latin typeface="Calibri"/>
                        </a:defRPr>
                      </a:pPr>
                      <a:r>
                        <a:t>경쟁 도서 B</a:t>
                      </a:r>
                    </a:p>
                    <a:p>
                      <a:r>
                        <a:t>(바이브 코딩 완벽 가이드)</a:t>
                      </a:r>
                    </a:p>
                  </a:txBody>
                  <a:tcPr>
                    <a:solidFill>
                      <a:srgbClr val="2C3E50"/>
                    </a:solidFill>
                  </a:tcPr>
                </a:tc>
                <a:tc>
                  <a:txBody>
                    <a:bodyPr/>
                    <a:lstStyle/>
                    <a:p>
                      <a:pPr algn="ctr">
                        <a:defRPr sz="1000" b="1">
                          <a:solidFill>
                            <a:srgbClr val="FFFFFF"/>
                          </a:solidFill>
                          <a:latin typeface="Calibri"/>
                        </a:defRPr>
                      </a:pPr>
                      <a:r>
                        <a:t>제안 도서</a:t>
                      </a:r>
                    </a:p>
                    <a:p>
                      <a:r>
                        <a:t>(바이브 코딩 마스터)</a:t>
                      </a:r>
                    </a:p>
                  </a:txBody>
                  <a:tcPr>
                    <a:solidFill>
                      <a:srgbClr val="5DADE2"/>
                    </a:solidFill>
                  </a:tcPr>
                </a:tc>
              </a:tr>
              <a:tr h="400050">
                <a:tc>
                  <a:txBody>
                    <a:bodyPr/>
                    <a:lstStyle/>
                    <a:p>
                      <a:pPr algn="ctr">
                        <a:defRPr sz="1000" b="1">
                          <a:solidFill>
                            <a:srgbClr val="2C3E50"/>
                          </a:solidFill>
                          <a:latin typeface="Calibri"/>
                        </a:defRPr>
                      </a:pPr>
                      <a:r>
                        <a:t>대상</a:t>
                      </a:r>
                    </a:p>
                  </a:txBody>
                  <a:tcPr>
                    <a:solidFill>
                      <a:srgbClr val="FFFFFF"/>
                    </a:solidFill>
                  </a:tcPr>
                </a:tc>
                <a:tc>
                  <a:txBody>
                    <a:bodyPr/>
                    <a:lstStyle/>
                    <a:p>
                      <a:pPr algn="ctr">
                        <a:defRPr sz="1000">
                          <a:solidFill>
                            <a:srgbClr val="2C3E50"/>
                          </a:solidFill>
                          <a:latin typeface="Calibri"/>
                        </a:defRPr>
                      </a:pPr>
                      <a:r>
                        <a:t>중급 개발자</a:t>
                      </a:r>
                    </a:p>
                  </a:txBody>
                  <a:tcPr>
                    <a:solidFill>
                      <a:srgbClr val="FFFFFF"/>
                    </a:solidFill>
                  </a:tcPr>
                </a:tc>
                <a:tc>
                  <a:txBody>
                    <a:bodyPr/>
                    <a:lstStyle/>
                    <a:p>
                      <a:pPr algn="ctr">
                        <a:defRPr sz="1000">
                          <a:solidFill>
                            <a:srgbClr val="2C3E50"/>
                          </a:solidFill>
                          <a:latin typeface="Calibri"/>
                        </a:defRPr>
                      </a:pPr>
                      <a:r>
                        <a:t>초급~중급</a:t>
                      </a:r>
                    </a:p>
                  </a:txBody>
                  <a:tcPr>
                    <a:solidFill>
                      <a:srgbClr val="FFFFFF"/>
                    </a:solidFill>
                  </a:tcPr>
                </a:tc>
                <a:tc>
                  <a:txBody>
                    <a:bodyPr/>
                    <a:lstStyle/>
                    <a:p>
                      <a:pPr algn="ctr">
                        <a:defRPr sz="1000">
                          <a:solidFill>
                            <a:srgbClr val="5DADE2"/>
                          </a:solidFill>
                          <a:latin typeface="Calibri"/>
                        </a:defRPr>
                      </a:pPr>
                      <a:r>
                        <a:t>비개발자~초급</a:t>
                      </a:r>
                    </a:p>
                  </a:txBody>
                  <a:tcPr>
                    <a:solidFill>
                      <a:srgbClr val="EBF5FB"/>
                    </a:solidFill>
                  </a:tcPr>
                </a:tc>
              </a:tr>
              <a:tr h="400050">
                <a:tc>
                  <a:txBody>
                    <a:bodyPr/>
                    <a:lstStyle/>
                    <a:p>
                      <a:pPr algn="ctr">
                        <a:defRPr sz="1000" b="1">
                          <a:solidFill>
                            <a:srgbClr val="2C3E50"/>
                          </a:solidFill>
                          <a:latin typeface="Calibri"/>
                        </a:defRPr>
                      </a:pPr>
                      <a:r>
                        <a:t>분량</a:t>
                      </a:r>
                    </a:p>
                  </a:txBody>
                  <a:tcPr>
                    <a:solidFill>
                      <a:srgbClr val="F8F9FA"/>
                    </a:solidFill>
                  </a:tcPr>
                </a:tc>
                <a:tc>
                  <a:txBody>
                    <a:bodyPr/>
                    <a:lstStyle/>
                    <a:p>
                      <a:pPr algn="ctr">
                        <a:defRPr sz="1000">
                          <a:solidFill>
                            <a:srgbClr val="2C3E50"/>
                          </a:solidFill>
                          <a:latin typeface="Calibri"/>
                        </a:defRPr>
                      </a:pPr>
                      <a:r>
                        <a:t>320쪽</a:t>
                      </a:r>
                    </a:p>
                  </a:txBody>
                  <a:tcPr>
                    <a:solidFill>
                      <a:srgbClr val="F8F9FA"/>
                    </a:solidFill>
                  </a:tcPr>
                </a:tc>
                <a:tc>
                  <a:txBody>
                    <a:bodyPr/>
                    <a:lstStyle/>
                    <a:p>
                      <a:pPr algn="ctr">
                        <a:defRPr sz="1000">
                          <a:solidFill>
                            <a:srgbClr val="2C3E50"/>
                          </a:solidFill>
                          <a:latin typeface="Calibri"/>
                        </a:defRPr>
                      </a:pPr>
                      <a:r>
                        <a:t>350쪽</a:t>
                      </a:r>
                    </a:p>
                  </a:txBody>
                  <a:tcPr>
                    <a:solidFill>
                      <a:srgbClr val="F8F9FA"/>
                    </a:solidFill>
                  </a:tcPr>
                </a:tc>
                <a:tc>
                  <a:txBody>
                    <a:bodyPr/>
                    <a:lstStyle/>
                    <a:p>
                      <a:pPr algn="ctr">
                        <a:defRPr sz="1000">
                          <a:solidFill>
                            <a:srgbClr val="5DADE2"/>
                          </a:solidFill>
                          <a:latin typeface="Calibri"/>
                        </a:defRPr>
                      </a:pPr>
                      <a:r>
                        <a:t>400쪽</a:t>
                      </a:r>
                    </a:p>
                  </a:txBody>
                  <a:tcPr>
                    <a:solidFill>
                      <a:srgbClr val="EBF5FB"/>
                    </a:solidFill>
                  </a:tcPr>
                </a:tc>
              </a:tr>
              <a:tr h="400050">
                <a:tc>
                  <a:txBody>
                    <a:bodyPr/>
                    <a:lstStyle/>
                    <a:p>
                      <a:pPr algn="ctr">
                        <a:defRPr sz="1000" b="1">
                          <a:solidFill>
                            <a:srgbClr val="2C3E50"/>
                          </a:solidFill>
                          <a:latin typeface="Calibri"/>
                        </a:defRPr>
                      </a:pPr>
                      <a:r>
                        <a:t>가격</a:t>
                      </a:r>
                    </a:p>
                  </a:txBody>
                  <a:tcPr>
                    <a:solidFill>
                      <a:srgbClr val="FFFFFF"/>
                    </a:solidFill>
                  </a:tcPr>
                </a:tc>
                <a:tc>
                  <a:txBody>
                    <a:bodyPr/>
                    <a:lstStyle/>
                    <a:p>
                      <a:pPr algn="ctr">
                        <a:defRPr sz="1000">
                          <a:solidFill>
                            <a:srgbClr val="2C3E50"/>
                          </a:solidFill>
                          <a:latin typeface="Calibri"/>
                        </a:defRPr>
                      </a:pPr>
                      <a:r>
                        <a:t>23,400원</a:t>
                      </a:r>
                    </a:p>
                  </a:txBody>
                  <a:tcPr>
                    <a:solidFill>
                      <a:srgbClr val="FFFFFF"/>
                    </a:solidFill>
                  </a:tcPr>
                </a:tc>
                <a:tc>
                  <a:txBody>
                    <a:bodyPr/>
                    <a:lstStyle/>
                    <a:p>
                      <a:pPr algn="ctr">
                        <a:defRPr sz="1000">
                          <a:solidFill>
                            <a:srgbClr val="2C3E50"/>
                          </a:solidFill>
                          <a:latin typeface="Calibri"/>
                        </a:defRPr>
                      </a:pPr>
                      <a:r>
                        <a:t>25,200원</a:t>
                      </a:r>
                    </a:p>
                  </a:txBody>
                  <a:tcPr>
                    <a:solidFill>
                      <a:srgbClr val="FFFFFF"/>
                    </a:solidFill>
                  </a:tcPr>
                </a:tc>
                <a:tc>
                  <a:txBody>
                    <a:bodyPr/>
                    <a:lstStyle/>
                    <a:p>
                      <a:pPr algn="ctr">
                        <a:defRPr sz="1000">
                          <a:solidFill>
                            <a:srgbClr val="5DADE2"/>
                          </a:solidFill>
                          <a:latin typeface="Calibri"/>
                        </a:defRPr>
                      </a:pPr>
                      <a:r>
                        <a:t>26,000원</a:t>
                      </a:r>
                    </a:p>
                  </a:txBody>
                  <a:tcPr>
                    <a:solidFill>
                      <a:srgbClr val="EBF5FB"/>
                    </a:solidFill>
                  </a:tcPr>
                </a:tc>
              </a:tr>
              <a:tr h="400050">
                <a:tc>
                  <a:txBody>
                    <a:bodyPr/>
                    <a:lstStyle/>
                    <a:p>
                      <a:pPr algn="ctr">
                        <a:defRPr sz="1000" b="1">
                          <a:solidFill>
                            <a:srgbClr val="2C3E50"/>
                          </a:solidFill>
                          <a:latin typeface="Calibri"/>
                        </a:defRPr>
                      </a:pPr>
                      <a:r>
                        <a:t>특징</a:t>
                      </a:r>
                    </a:p>
                  </a:txBody>
                  <a:tcPr>
                    <a:solidFill>
                      <a:srgbClr val="F8F9FA"/>
                    </a:solidFill>
                  </a:tcPr>
                </a:tc>
                <a:tc>
                  <a:txBody>
                    <a:bodyPr/>
                    <a:lstStyle/>
                    <a:p>
                      <a:pPr algn="ctr">
                        <a:defRPr sz="1000">
                          <a:solidFill>
                            <a:srgbClr val="2C3E50"/>
                          </a:solidFill>
                          <a:latin typeface="Calibri"/>
                        </a:defRPr>
                      </a:pPr>
                      <a:r>
                        <a:t>코워크 중심</a:t>
                      </a:r>
                    </a:p>
                  </a:txBody>
                  <a:tcPr>
                    <a:solidFill>
                      <a:srgbClr val="F8F9FA"/>
                    </a:solidFill>
                  </a:tcPr>
                </a:tc>
                <a:tc>
                  <a:txBody>
                    <a:bodyPr/>
                    <a:lstStyle/>
                    <a:p>
                      <a:pPr algn="ctr">
                        <a:defRPr sz="1000">
                          <a:solidFill>
                            <a:srgbClr val="2C3E50"/>
                          </a:solidFill>
                          <a:latin typeface="Calibri"/>
                        </a:defRPr>
                      </a:pPr>
                      <a:r>
                        <a:t>커서 AI 중심</a:t>
                      </a:r>
                    </a:p>
                  </a:txBody>
                  <a:tcPr>
                    <a:solidFill>
                      <a:srgbClr val="F8F9FA"/>
                    </a:solidFill>
                  </a:tcPr>
                </a:tc>
                <a:tc>
                  <a:txBody>
                    <a:bodyPr/>
                    <a:lstStyle/>
                    <a:p>
                      <a:pPr algn="ctr">
                        <a:defRPr sz="1000">
                          <a:solidFill>
                            <a:srgbClr val="5DADE2"/>
                          </a:solidFill>
                          <a:latin typeface="Calibri"/>
                        </a:defRPr>
                      </a:pPr>
                      <a:r>
                        <a:t>종합 가이드</a:t>
                      </a:r>
                    </a:p>
                  </a:txBody>
                  <a:tcPr>
                    <a:solidFill>
                      <a:srgbClr val="EBF5FB"/>
                    </a:solidFill>
                  </a:tcPr>
                </a:tc>
              </a:tr>
              <a:tr h="400050">
                <a:tc>
                  <a:txBody>
                    <a:bodyPr/>
                    <a:lstStyle/>
                    <a:p>
                      <a:pPr algn="ctr">
                        <a:defRPr sz="1000" b="1">
                          <a:solidFill>
                            <a:srgbClr val="2C3E50"/>
                          </a:solidFill>
                          <a:latin typeface="Calibri"/>
                        </a:defRPr>
                      </a:pPr>
                      <a:r>
                        <a:t>실습 프로젝트</a:t>
                      </a:r>
                    </a:p>
                  </a:txBody>
                  <a:tcPr>
                    <a:solidFill>
                      <a:srgbClr val="FFFFFF"/>
                    </a:solidFill>
                  </a:tcPr>
                </a:tc>
                <a:tc>
                  <a:txBody>
                    <a:bodyPr/>
                    <a:lstStyle/>
                    <a:p>
                      <a:pPr algn="ctr">
                        <a:defRPr sz="1000">
                          <a:solidFill>
                            <a:srgbClr val="2C3E50"/>
                          </a:solidFill>
                          <a:latin typeface="Calibri"/>
                        </a:defRPr>
                      </a:pPr>
                      <a:r>
                        <a:t>3개</a:t>
                      </a:r>
                    </a:p>
                  </a:txBody>
                  <a:tcPr>
                    <a:solidFill>
                      <a:srgbClr val="FFFFFF"/>
                    </a:solidFill>
                  </a:tcPr>
                </a:tc>
                <a:tc>
                  <a:txBody>
                    <a:bodyPr/>
                    <a:lstStyle/>
                    <a:p>
                      <a:pPr algn="ctr">
                        <a:defRPr sz="1000">
                          <a:solidFill>
                            <a:srgbClr val="2C3E50"/>
                          </a:solidFill>
                          <a:latin typeface="Calibri"/>
                        </a:defRPr>
                      </a:pPr>
                      <a:r>
                        <a:t>5개</a:t>
                      </a:r>
                    </a:p>
                  </a:txBody>
                  <a:tcPr>
                    <a:solidFill>
                      <a:srgbClr val="FFFFFF"/>
                    </a:solidFill>
                  </a:tcPr>
                </a:tc>
                <a:tc>
                  <a:txBody>
                    <a:bodyPr/>
                    <a:lstStyle/>
                    <a:p>
                      <a:pPr algn="ctr">
                        <a:defRPr sz="1000">
                          <a:solidFill>
                            <a:srgbClr val="5DADE2"/>
                          </a:solidFill>
                          <a:latin typeface="Calibri"/>
                        </a:defRPr>
                      </a:pPr>
                      <a:r>
                        <a:t>8개+</a:t>
                      </a:r>
                    </a:p>
                  </a:txBody>
                  <a:tcPr>
                    <a:solidFill>
                      <a:srgbClr val="EBF5FB"/>
                    </a:solidFill>
                  </a:tcPr>
                </a:tc>
              </a:tr>
              <a:tr h="400050">
                <a:tc>
                  <a:txBody>
                    <a:bodyPr/>
                    <a:lstStyle/>
                    <a:p>
                      <a:pPr algn="ctr">
                        <a:defRPr sz="1000" b="1">
                          <a:solidFill>
                            <a:srgbClr val="2C3E50"/>
                          </a:solidFill>
                          <a:latin typeface="Calibri"/>
                        </a:defRPr>
                      </a:pPr>
                      <a:r>
                        <a:t>수익화</a:t>
                      </a:r>
                    </a:p>
                  </a:txBody>
                  <a:tcPr>
                    <a:solidFill>
                      <a:srgbClr val="F8F9FA"/>
                    </a:solidFill>
                  </a:tcPr>
                </a:tc>
                <a:tc>
                  <a:txBody>
                    <a:bodyPr/>
                    <a:lstStyle/>
                    <a:p>
                      <a:pPr algn="ctr">
                        <a:defRPr sz="1000">
                          <a:solidFill>
                            <a:srgbClr val="2C3E50"/>
                          </a:solidFill>
                          <a:latin typeface="Calibri"/>
                        </a:defRPr>
                      </a:pPr>
                      <a:r>
                        <a:t>없음</a:t>
                      </a:r>
                    </a:p>
                  </a:txBody>
                  <a:tcPr>
                    <a:solidFill>
                      <a:srgbClr val="F8F9FA"/>
                    </a:solidFill>
                  </a:tcPr>
                </a:tc>
                <a:tc>
                  <a:txBody>
                    <a:bodyPr/>
                    <a:lstStyle/>
                    <a:p>
                      <a:pPr algn="ctr">
                        <a:defRPr sz="1000">
                          <a:solidFill>
                            <a:srgbClr val="2C3E50"/>
                          </a:solidFill>
                          <a:latin typeface="Calibri"/>
                        </a:defRPr>
                      </a:pPr>
                      <a:r>
                        <a:t>없음</a:t>
                      </a:r>
                    </a:p>
                  </a:txBody>
                  <a:tcPr>
                    <a:solidFill>
                      <a:srgbClr val="F8F9FA"/>
                    </a:solidFill>
                  </a:tcPr>
                </a:tc>
                <a:tc>
                  <a:txBody>
                    <a:bodyPr/>
                    <a:lstStyle/>
                    <a:p>
                      <a:pPr algn="ctr">
                        <a:defRPr sz="1000">
                          <a:solidFill>
                            <a:srgbClr val="5DADE2"/>
                          </a:solidFill>
                          <a:latin typeface="Calibri"/>
                        </a:defRPr>
                      </a:pPr>
                      <a:r>
                        <a:t>수익화 전략 포함</a:t>
                      </a:r>
                    </a:p>
                  </a:txBody>
                  <a:tcPr>
                    <a:solidFill>
                      <a:srgbClr val="EBF5FB"/>
                    </a:solidFill>
                  </a:tcPr>
                </a:tc>
              </a:tr>
              <a:tr h="400050">
                <a:tc>
                  <a:txBody>
                    <a:bodyPr/>
                    <a:lstStyle/>
                    <a:p>
                      <a:pPr algn="ctr">
                        <a:defRPr sz="1000" b="1">
                          <a:solidFill>
                            <a:srgbClr val="2C3E50"/>
                          </a:solidFill>
                          <a:latin typeface="Calibri"/>
                        </a:defRPr>
                      </a:pPr>
                      <a:r>
                        <a:t>에듀테크</a:t>
                      </a:r>
                    </a:p>
                  </a:txBody>
                  <a:tcPr>
                    <a:solidFill>
                      <a:srgbClr val="FFFFFF"/>
                    </a:solidFill>
                  </a:tcPr>
                </a:tc>
                <a:tc>
                  <a:txBody>
                    <a:bodyPr/>
                    <a:lstStyle/>
                    <a:p>
                      <a:pPr algn="ctr">
                        <a:defRPr sz="1000">
                          <a:solidFill>
                            <a:srgbClr val="2C3E50"/>
                          </a:solidFill>
                          <a:latin typeface="Calibri"/>
                        </a:defRPr>
                      </a:pPr>
                      <a:r>
                        <a:t>없음</a:t>
                      </a:r>
                    </a:p>
                  </a:txBody>
                  <a:tcPr>
                    <a:solidFill>
                      <a:srgbClr val="FFFFFF"/>
                    </a:solidFill>
                  </a:tcPr>
                </a:tc>
                <a:tc>
                  <a:txBody>
                    <a:bodyPr/>
                    <a:lstStyle/>
                    <a:p>
                      <a:pPr algn="ctr">
                        <a:defRPr sz="1000">
                          <a:solidFill>
                            <a:srgbClr val="2C3E50"/>
                          </a:solidFill>
                          <a:latin typeface="Calibri"/>
                        </a:defRPr>
                      </a:pPr>
                      <a:r>
                        <a:t>없음</a:t>
                      </a:r>
                    </a:p>
                  </a:txBody>
                  <a:tcPr>
                    <a:solidFill>
                      <a:srgbClr val="FFFFFF"/>
                    </a:solidFill>
                  </a:tcPr>
                </a:tc>
                <a:tc>
                  <a:txBody>
                    <a:bodyPr/>
                    <a:lstStyle/>
                    <a:p>
                      <a:pPr algn="ctr">
                        <a:defRPr sz="1000">
                          <a:solidFill>
                            <a:srgbClr val="5DADE2"/>
                          </a:solidFill>
                          <a:latin typeface="Calibri"/>
                        </a:defRPr>
                      </a:pPr>
                      <a:r>
                        <a:t>교사 활용편 포함</a:t>
                      </a:r>
                    </a:p>
                  </a:txBody>
                  <a:tcPr>
                    <a:solidFill>
                      <a:srgbClr val="EBF5F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마케팅 전략</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246888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54480" y="1554480"/>
            <a:ext cx="822960" cy="82296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1554480"/>
            <a:ext cx="822960" cy="822960"/>
          </a:xfrm>
          <a:prstGeom prst="rect">
            <a:avLst/>
          </a:prstGeom>
          <a:noFill/>
        </p:spPr>
        <p:txBody>
          <a:bodyPr wrap="square">
            <a:spAutoFit/>
          </a:bodyPr>
          <a:lstStyle/>
          <a:p>
            <a:pPr algn="ctr">
              <a:spcBef>
                <a:spcPts val="0"/>
              </a:spcBef>
              <a:spcAft>
                <a:spcPts val="0"/>
              </a:spcAft>
              <a:defRPr sz="1400" b="1">
                <a:solidFill>
                  <a:srgbClr val="FFFFFF"/>
                </a:solidFill>
                <a:latin typeface="Calibri"/>
              </a:defRPr>
            </a:pPr>
            <a:r>
              <a:t>ON</a:t>
            </a:r>
          </a:p>
        </p:txBody>
      </p:sp>
      <p:sp>
        <p:nvSpPr>
          <p:cNvPr id="7" name="TextBox 6"/>
          <p:cNvSpPr txBox="1"/>
          <p:nvPr/>
        </p:nvSpPr>
        <p:spPr>
          <a:xfrm>
            <a:off x="914400" y="2560320"/>
            <a:ext cx="2103120" cy="365760"/>
          </a:xfrm>
          <a:prstGeom prst="rect">
            <a:avLst/>
          </a:prstGeom>
          <a:noFill/>
        </p:spPr>
        <p:txBody>
          <a:bodyPr wrap="square">
            <a:spAutoFit/>
          </a:bodyPr>
          <a:lstStyle/>
          <a:p>
            <a:pPr algn="ctr">
              <a:spcBef>
                <a:spcPts val="0"/>
              </a:spcBef>
              <a:spcAft>
                <a:spcPts val="0"/>
              </a:spcAft>
              <a:defRPr sz="1400" b="1">
                <a:solidFill>
                  <a:srgbClr val="2C3E50"/>
                </a:solidFill>
                <a:latin typeface="Calibri"/>
              </a:defRPr>
            </a:pPr>
            <a:r>
              <a:t>온라인 채널</a:t>
            </a:r>
          </a:p>
        </p:txBody>
      </p:sp>
      <p:sp>
        <p:nvSpPr>
          <p:cNvPr id="8" name="TextBox 7"/>
          <p:cNvSpPr txBox="1"/>
          <p:nvPr/>
        </p:nvSpPr>
        <p:spPr>
          <a:xfrm>
            <a:off x="1005840" y="30175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YES24/교보문고 신규도서 리뷰 이벤트</a:t>
            </a:r>
          </a:p>
        </p:txBody>
      </p:sp>
      <p:sp>
        <p:nvSpPr>
          <p:cNvPr id="9" name="TextBox 8"/>
          <p:cNvSpPr txBox="1"/>
          <p:nvPr/>
        </p:nvSpPr>
        <p:spPr>
          <a:xfrm>
            <a:off x="1005840" y="34747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블로그/인스타그램 서평단 모집</a:t>
            </a:r>
          </a:p>
        </p:txBody>
      </p:sp>
      <p:sp>
        <p:nvSpPr>
          <p:cNvPr id="10" name="TextBox 9"/>
          <p:cNvSpPr txBox="1"/>
          <p:nvPr/>
        </p:nvSpPr>
        <p:spPr>
          <a:xfrm>
            <a:off x="1005840" y="39319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유튜브 바이브 코딩 채널 협찬</a:t>
            </a:r>
          </a:p>
        </p:txBody>
      </p:sp>
      <p:sp>
        <p:nvSpPr>
          <p:cNvPr id="11" name="Rectangle 10"/>
          <p:cNvSpPr/>
          <p:nvPr/>
        </p:nvSpPr>
        <p:spPr>
          <a:xfrm>
            <a:off x="3474720" y="1371600"/>
            <a:ext cx="246888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97680" y="1554480"/>
            <a:ext cx="822960" cy="82296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554480"/>
            <a:ext cx="822960" cy="822960"/>
          </a:xfrm>
          <a:prstGeom prst="rect">
            <a:avLst/>
          </a:prstGeom>
          <a:noFill/>
        </p:spPr>
        <p:txBody>
          <a:bodyPr wrap="square">
            <a:spAutoFit/>
          </a:bodyPr>
          <a:lstStyle/>
          <a:p>
            <a:pPr algn="ctr">
              <a:spcBef>
                <a:spcPts val="0"/>
              </a:spcBef>
              <a:spcAft>
                <a:spcPts val="0"/>
              </a:spcAft>
              <a:defRPr sz="1400" b="1">
                <a:solidFill>
                  <a:srgbClr val="FFFFFF"/>
                </a:solidFill>
                <a:latin typeface="Calibri"/>
              </a:defRPr>
            </a:pPr>
            <a:r>
              <a:t>OF</a:t>
            </a:r>
          </a:p>
        </p:txBody>
      </p:sp>
      <p:sp>
        <p:nvSpPr>
          <p:cNvPr id="14" name="TextBox 13"/>
          <p:cNvSpPr txBox="1"/>
          <p:nvPr/>
        </p:nvSpPr>
        <p:spPr>
          <a:xfrm>
            <a:off x="3657600" y="2560320"/>
            <a:ext cx="2103120" cy="365760"/>
          </a:xfrm>
          <a:prstGeom prst="rect">
            <a:avLst/>
          </a:prstGeom>
          <a:noFill/>
        </p:spPr>
        <p:txBody>
          <a:bodyPr wrap="square">
            <a:spAutoFit/>
          </a:bodyPr>
          <a:lstStyle/>
          <a:p>
            <a:pPr algn="ctr">
              <a:spcBef>
                <a:spcPts val="0"/>
              </a:spcBef>
              <a:spcAft>
                <a:spcPts val="0"/>
              </a:spcAft>
              <a:defRPr sz="1400" b="1">
                <a:solidFill>
                  <a:srgbClr val="2C3E50"/>
                </a:solidFill>
                <a:latin typeface="Calibri"/>
              </a:defRPr>
            </a:pPr>
            <a:r>
              <a:t>오프라인</a:t>
            </a:r>
          </a:p>
        </p:txBody>
      </p:sp>
      <p:sp>
        <p:nvSpPr>
          <p:cNvPr id="15" name="TextBox 14"/>
          <p:cNvSpPr txBox="1"/>
          <p:nvPr/>
        </p:nvSpPr>
        <p:spPr>
          <a:xfrm>
            <a:off x="3749039" y="30175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IT 컨퍼런스/세미나 특강</a:t>
            </a:r>
          </a:p>
        </p:txBody>
      </p:sp>
      <p:sp>
        <p:nvSpPr>
          <p:cNvPr id="16" name="TextBox 15"/>
          <p:cNvSpPr txBox="1"/>
          <p:nvPr/>
        </p:nvSpPr>
        <p:spPr>
          <a:xfrm>
            <a:off x="3749039" y="34747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서점 오프라인 북토크</a:t>
            </a:r>
          </a:p>
        </p:txBody>
      </p:sp>
      <p:sp>
        <p:nvSpPr>
          <p:cNvPr id="17" name="TextBox 16"/>
          <p:cNvSpPr txBox="1"/>
          <p:nvPr/>
        </p:nvSpPr>
        <p:spPr>
          <a:xfrm>
            <a:off x="3749039" y="39319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개발자 커뮤니티 모임</a:t>
            </a:r>
          </a:p>
        </p:txBody>
      </p:sp>
      <p:sp>
        <p:nvSpPr>
          <p:cNvPr id="18" name="Rectangle 17"/>
          <p:cNvSpPr/>
          <p:nvPr/>
        </p:nvSpPr>
        <p:spPr>
          <a:xfrm>
            <a:off x="6217920" y="1371600"/>
            <a:ext cx="246888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0" y="1554480"/>
            <a:ext cx="822960" cy="82296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0" y="1554480"/>
            <a:ext cx="822960" cy="822960"/>
          </a:xfrm>
          <a:prstGeom prst="rect">
            <a:avLst/>
          </a:prstGeom>
          <a:noFill/>
        </p:spPr>
        <p:txBody>
          <a:bodyPr wrap="square">
            <a:spAutoFit/>
          </a:bodyPr>
          <a:lstStyle/>
          <a:p>
            <a:pPr algn="ctr">
              <a:spcBef>
                <a:spcPts val="0"/>
              </a:spcBef>
              <a:spcAft>
                <a:spcPts val="0"/>
              </a:spcAft>
              <a:defRPr sz="1400" b="1">
                <a:solidFill>
                  <a:srgbClr val="FFFFFF"/>
                </a:solidFill>
                <a:latin typeface="Calibri"/>
              </a:defRPr>
            </a:pPr>
            <a:r>
              <a:t>ED</a:t>
            </a:r>
          </a:p>
        </p:txBody>
      </p:sp>
      <p:sp>
        <p:nvSpPr>
          <p:cNvPr id="21" name="TextBox 20"/>
          <p:cNvSpPr txBox="1"/>
          <p:nvPr/>
        </p:nvSpPr>
        <p:spPr>
          <a:xfrm>
            <a:off x="6400800" y="2560320"/>
            <a:ext cx="2103120" cy="365760"/>
          </a:xfrm>
          <a:prstGeom prst="rect">
            <a:avLst/>
          </a:prstGeom>
          <a:noFill/>
        </p:spPr>
        <p:txBody>
          <a:bodyPr wrap="square">
            <a:spAutoFit/>
          </a:bodyPr>
          <a:lstStyle/>
          <a:p>
            <a:pPr algn="ctr">
              <a:spcBef>
                <a:spcPts val="0"/>
              </a:spcBef>
              <a:spcAft>
                <a:spcPts val="0"/>
              </a:spcAft>
              <a:defRPr sz="1400" b="1">
                <a:solidFill>
                  <a:srgbClr val="2C3E50"/>
                </a:solidFill>
                <a:latin typeface="Calibri"/>
              </a:defRPr>
            </a:pPr>
            <a:r>
              <a:t>교육 채널</a:t>
            </a:r>
          </a:p>
        </p:txBody>
      </p:sp>
      <p:sp>
        <p:nvSpPr>
          <p:cNvPr id="22" name="TextBox 21"/>
          <p:cNvSpPr txBox="1"/>
          <p:nvPr/>
        </p:nvSpPr>
        <p:spPr>
          <a:xfrm>
            <a:off x="6492240" y="30175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교사 대상 웨비나</a:t>
            </a:r>
          </a:p>
        </p:txBody>
      </p:sp>
      <p:sp>
        <p:nvSpPr>
          <p:cNvPr id="23" name="TextBox 22"/>
          <p:cNvSpPr txBox="1"/>
          <p:nvPr/>
        </p:nvSpPr>
        <p:spPr>
          <a:xfrm>
            <a:off x="6492240" y="34747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에듀테크 컨퍼런스 발표</a:t>
            </a:r>
          </a:p>
        </p:txBody>
      </p:sp>
      <p:sp>
        <p:nvSpPr>
          <p:cNvPr id="24" name="TextBox 23"/>
          <p:cNvSpPr txBox="1"/>
          <p:nvPr/>
        </p:nvSpPr>
        <p:spPr>
          <a:xfrm>
            <a:off x="6492240" y="3931920"/>
            <a:ext cx="1920240" cy="41148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학교 도서관 납품 프로모션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출간 일정</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560320"/>
            <a:ext cx="7315200" cy="54864"/>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34440" y="2423160"/>
            <a:ext cx="274320" cy="27432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914400" cy="365760"/>
          </a:xfrm>
          <a:prstGeom prst="rect">
            <a:avLst/>
          </a:prstGeom>
          <a:noFill/>
        </p:spPr>
        <p:txBody>
          <a:bodyPr wrap="square">
            <a:spAutoFit/>
          </a:bodyPr>
          <a:lstStyle/>
          <a:p>
            <a:pPr algn="ctr">
              <a:spcBef>
                <a:spcPts val="0"/>
              </a:spcBef>
              <a:spcAft>
                <a:spcPts val="0"/>
              </a:spcAft>
              <a:defRPr sz="1400" b="1">
                <a:solidFill>
                  <a:srgbClr val="2C3E50"/>
                </a:solidFill>
                <a:latin typeface="Georgia"/>
              </a:defRPr>
            </a:pPr>
            <a:r>
              <a:t>8월</a:t>
            </a:r>
          </a:p>
        </p:txBody>
      </p:sp>
      <p:sp>
        <p:nvSpPr>
          <p:cNvPr id="7" name="TextBox 6"/>
          <p:cNvSpPr txBox="1"/>
          <p:nvPr/>
        </p:nvSpPr>
        <p:spPr>
          <a:xfrm>
            <a:off x="731520" y="2926080"/>
            <a:ext cx="1280160" cy="640080"/>
          </a:xfrm>
          <a:prstGeom prst="rect">
            <a:avLst/>
          </a:prstGeom>
          <a:noFill/>
        </p:spPr>
        <p:txBody>
          <a:bodyPr wrap="square">
            <a:spAutoFit/>
          </a:bodyPr>
          <a:lstStyle/>
          <a:p>
            <a:pPr algn="ctr">
              <a:spcBef>
                <a:spcPts val="0"/>
              </a:spcBef>
              <a:spcAft>
                <a:spcPts val="0"/>
              </a:spcAft>
              <a:defRPr sz="1000" b="0">
                <a:solidFill>
                  <a:srgbClr val="7F8C8D"/>
                </a:solidFill>
                <a:latin typeface="Calibri"/>
              </a:defRPr>
            </a:pPr>
            <a:r>
              <a:t>기획 확정 &amp;</a:t>
            </a:r>
            <a:br/>
            <a:r>
              <a:t>저자 계약</a:t>
            </a:r>
          </a:p>
        </p:txBody>
      </p:sp>
      <p:sp>
        <p:nvSpPr>
          <p:cNvPr id="8" name="Oval 7"/>
          <p:cNvSpPr/>
          <p:nvPr/>
        </p:nvSpPr>
        <p:spPr>
          <a:xfrm>
            <a:off x="2606040" y="2423160"/>
            <a:ext cx="274320" cy="27432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0" y="1920240"/>
            <a:ext cx="914400" cy="365760"/>
          </a:xfrm>
          <a:prstGeom prst="rect">
            <a:avLst/>
          </a:prstGeom>
          <a:noFill/>
        </p:spPr>
        <p:txBody>
          <a:bodyPr wrap="square">
            <a:spAutoFit/>
          </a:bodyPr>
          <a:lstStyle/>
          <a:p>
            <a:pPr algn="ctr">
              <a:spcBef>
                <a:spcPts val="0"/>
              </a:spcBef>
              <a:spcAft>
                <a:spcPts val="0"/>
              </a:spcAft>
              <a:defRPr sz="1400" b="1">
                <a:solidFill>
                  <a:srgbClr val="2C3E50"/>
                </a:solidFill>
                <a:latin typeface="Georgia"/>
              </a:defRPr>
            </a:pPr>
            <a:r>
              <a:t>9월</a:t>
            </a:r>
          </a:p>
        </p:txBody>
      </p:sp>
      <p:sp>
        <p:nvSpPr>
          <p:cNvPr id="10" name="TextBox 9"/>
          <p:cNvSpPr txBox="1"/>
          <p:nvPr/>
        </p:nvSpPr>
        <p:spPr>
          <a:xfrm>
            <a:off x="2103120" y="2926080"/>
            <a:ext cx="1280160" cy="640080"/>
          </a:xfrm>
          <a:prstGeom prst="rect">
            <a:avLst/>
          </a:prstGeom>
          <a:noFill/>
        </p:spPr>
        <p:txBody>
          <a:bodyPr wrap="square">
            <a:spAutoFit/>
          </a:bodyPr>
          <a:lstStyle/>
          <a:p>
            <a:pPr algn="ctr">
              <a:spcBef>
                <a:spcPts val="0"/>
              </a:spcBef>
              <a:spcAft>
                <a:spcPts val="0"/>
              </a:spcAft>
              <a:defRPr sz="1000" b="0">
                <a:solidFill>
                  <a:srgbClr val="7F8C8D"/>
                </a:solidFill>
                <a:latin typeface="Calibri"/>
              </a:defRPr>
            </a:pPr>
            <a:r>
              <a:t>1~4차 원고</a:t>
            </a:r>
            <a:br/>
            <a:r>
              <a:t>집필</a:t>
            </a:r>
          </a:p>
        </p:txBody>
      </p:sp>
      <p:sp>
        <p:nvSpPr>
          <p:cNvPr id="11" name="Oval 10"/>
          <p:cNvSpPr/>
          <p:nvPr/>
        </p:nvSpPr>
        <p:spPr>
          <a:xfrm>
            <a:off x="3977639" y="2423160"/>
            <a:ext cx="274320" cy="274320"/>
          </a:xfrm>
          <a:prstGeom prst="ellipse">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1920240"/>
            <a:ext cx="914400" cy="365760"/>
          </a:xfrm>
          <a:prstGeom prst="rect">
            <a:avLst/>
          </a:prstGeom>
          <a:noFill/>
        </p:spPr>
        <p:txBody>
          <a:bodyPr wrap="square">
            <a:spAutoFit/>
          </a:bodyPr>
          <a:lstStyle/>
          <a:p>
            <a:pPr algn="ctr">
              <a:spcBef>
                <a:spcPts val="0"/>
              </a:spcBef>
              <a:spcAft>
                <a:spcPts val="0"/>
              </a:spcAft>
              <a:defRPr sz="1400" b="1">
                <a:solidFill>
                  <a:srgbClr val="2C3E50"/>
                </a:solidFill>
                <a:latin typeface="Georgia"/>
              </a:defRPr>
            </a:pPr>
            <a:r>
              <a:t>10월</a:t>
            </a:r>
          </a:p>
        </p:txBody>
      </p:sp>
      <p:sp>
        <p:nvSpPr>
          <p:cNvPr id="13" name="TextBox 12"/>
          <p:cNvSpPr txBox="1"/>
          <p:nvPr/>
        </p:nvSpPr>
        <p:spPr>
          <a:xfrm>
            <a:off x="3474720" y="2926080"/>
            <a:ext cx="1280160" cy="640080"/>
          </a:xfrm>
          <a:prstGeom prst="rect">
            <a:avLst/>
          </a:prstGeom>
          <a:noFill/>
        </p:spPr>
        <p:txBody>
          <a:bodyPr wrap="square">
            <a:spAutoFit/>
          </a:bodyPr>
          <a:lstStyle/>
          <a:p>
            <a:pPr algn="ctr">
              <a:spcBef>
                <a:spcPts val="0"/>
              </a:spcBef>
              <a:spcAft>
                <a:spcPts val="0"/>
              </a:spcAft>
              <a:defRPr sz="1000" b="0">
                <a:solidFill>
                  <a:srgbClr val="7F8C8D"/>
                </a:solidFill>
                <a:latin typeface="Calibri"/>
              </a:defRPr>
            </a:pPr>
            <a:r>
              <a:t>5~8차 원고</a:t>
            </a:r>
            <a:br/>
            <a:r>
              <a:t>집필</a:t>
            </a:r>
          </a:p>
        </p:txBody>
      </p:sp>
      <p:sp>
        <p:nvSpPr>
          <p:cNvPr id="14" name="Oval 13"/>
          <p:cNvSpPr/>
          <p:nvPr/>
        </p:nvSpPr>
        <p:spPr>
          <a:xfrm>
            <a:off x="5349240" y="2423160"/>
            <a:ext cx="274320" cy="274320"/>
          </a:xfrm>
          <a:prstGeom prst="ellipse">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1920240"/>
            <a:ext cx="914400" cy="365760"/>
          </a:xfrm>
          <a:prstGeom prst="rect">
            <a:avLst/>
          </a:prstGeom>
          <a:noFill/>
        </p:spPr>
        <p:txBody>
          <a:bodyPr wrap="square">
            <a:spAutoFit/>
          </a:bodyPr>
          <a:lstStyle/>
          <a:p>
            <a:pPr algn="ctr">
              <a:spcBef>
                <a:spcPts val="0"/>
              </a:spcBef>
              <a:spcAft>
                <a:spcPts val="0"/>
              </a:spcAft>
              <a:defRPr sz="1400" b="1">
                <a:solidFill>
                  <a:srgbClr val="2C3E50"/>
                </a:solidFill>
                <a:latin typeface="Georgia"/>
              </a:defRPr>
            </a:pPr>
            <a:r>
              <a:t>11월</a:t>
            </a:r>
          </a:p>
        </p:txBody>
      </p:sp>
      <p:sp>
        <p:nvSpPr>
          <p:cNvPr id="16" name="TextBox 15"/>
          <p:cNvSpPr txBox="1"/>
          <p:nvPr/>
        </p:nvSpPr>
        <p:spPr>
          <a:xfrm>
            <a:off x="4846320" y="2926080"/>
            <a:ext cx="1280160" cy="640080"/>
          </a:xfrm>
          <a:prstGeom prst="rect">
            <a:avLst/>
          </a:prstGeom>
          <a:noFill/>
        </p:spPr>
        <p:txBody>
          <a:bodyPr wrap="square">
            <a:spAutoFit/>
          </a:bodyPr>
          <a:lstStyle/>
          <a:p>
            <a:pPr algn="ctr">
              <a:spcBef>
                <a:spcPts val="0"/>
              </a:spcBef>
              <a:spcAft>
                <a:spcPts val="0"/>
              </a:spcAft>
              <a:defRPr sz="1000" b="0">
                <a:solidFill>
                  <a:srgbClr val="7F8C8D"/>
                </a:solidFill>
                <a:latin typeface="Calibri"/>
              </a:defRPr>
            </a:pPr>
            <a:r>
              <a:t>9~12차 원고</a:t>
            </a:r>
            <a:br/>
            <a:r>
              <a:t>&amp; 편집</a:t>
            </a:r>
          </a:p>
        </p:txBody>
      </p:sp>
      <p:sp>
        <p:nvSpPr>
          <p:cNvPr id="17" name="Oval 16"/>
          <p:cNvSpPr/>
          <p:nvPr/>
        </p:nvSpPr>
        <p:spPr>
          <a:xfrm>
            <a:off x="6720840" y="2423160"/>
            <a:ext cx="274320" cy="274320"/>
          </a:xfrm>
          <a:prstGeom prst="ellipse">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920240"/>
            <a:ext cx="914400" cy="365760"/>
          </a:xfrm>
          <a:prstGeom prst="rect">
            <a:avLst/>
          </a:prstGeom>
          <a:noFill/>
        </p:spPr>
        <p:txBody>
          <a:bodyPr wrap="square">
            <a:spAutoFit/>
          </a:bodyPr>
          <a:lstStyle/>
          <a:p>
            <a:pPr algn="ctr">
              <a:spcBef>
                <a:spcPts val="0"/>
              </a:spcBef>
              <a:spcAft>
                <a:spcPts val="0"/>
              </a:spcAft>
              <a:defRPr sz="1400" b="1">
                <a:solidFill>
                  <a:srgbClr val="2C3E50"/>
                </a:solidFill>
                <a:latin typeface="Georgia"/>
              </a:defRPr>
            </a:pPr>
            <a:r>
              <a:t>12월</a:t>
            </a:r>
          </a:p>
        </p:txBody>
      </p:sp>
      <p:sp>
        <p:nvSpPr>
          <p:cNvPr id="19" name="TextBox 18"/>
          <p:cNvSpPr txBox="1"/>
          <p:nvPr/>
        </p:nvSpPr>
        <p:spPr>
          <a:xfrm>
            <a:off x="6217920" y="2926080"/>
            <a:ext cx="1280160" cy="640080"/>
          </a:xfrm>
          <a:prstGeom prst="rect">
            <a:avLst/>
          </a:prstGeom>
          <a:noFill/>
        </p:spPr>
        <p:txBody>
          <a:bodyPr wrap="square">
            <a:spAutoFit/>
          </a:bodyPr>
          <a:lstStyle/>
          <a:p>
            <a:pPr algn="ctr">
              <a:spcBef>
                <a:spcPts val="0"/>
              </a:spcBef>
              <a:spcAft>
                <a:spcPts val="0"/>
              </a:spcAft>
              <a:defRPr sz="1000" b="0">
                <a:solidFill>
                  <a:srgbClr val="7F8C8D"/>
                </a:solidFill>
                <a:latin typeface="Calibri"/>
              </a:defRPr>
            </a:pPr>
            <a:r>
              <a:t>교정교열</a:t>
            </a:r>
            <a:br/>
            <a:r>
              <a:t>&amp; 디자인</a:t>
            </a:r>
          </a:p>
        </p:txBody>
      </p:sp>
      <p:sp>
        <p:nvSpPr>
          <p:cNvPr id="20" name="Oval 19"/>
          <p:cNvSpPr/>
          <p:nvPr/>
        </p:nvSpPr>
        <p:spPr>
          <a:xfrm>
            <a:off x="8092440" y="2423160"/>
            <a:ext cx="274320" cy="274320"/>
          </a:xfrm>
          <a:prstGeom prst="ellipse">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1920240"/>
            <a:ext cx="914400" cy="365760"/>
          </a:xfrm>
          <a:prstGeom prst="rect">
            <a:avLst/>
          </a:prstGeom>
          <a:noFill/>
        </p:spPr>
        <p:txBody>
          <a:bodyPr wrap="square">
            <a:spAutoFit/>
          </a:bodyPr>
          <a:lstStyle/>
          <a:p>
            <a:pPr algn="ctr">
              <a:spcBef>
                <a:spcPts val="0"/>
              </a:spcBef>
              <a:spcAft>
                <a:spcPts val="0"/>
              </a:spcAft>
              <a:defRPr sz="1400" b="1">
                <a:solidFill>
                  <a:srgbClr val="2C3E50"/>
                </a:solidFill>
                <a:latin typeface="Georgia"/>
              </a:defRPr>
            </a:pPr>
            <a:r>
              <a:t>1월</a:t>
            </a:r>
          </a:p>
        </p:txBody>
      </p:sp>
      <p:sp>
        <p:nvSpPr>
          <p:cNvPr id="22" name="TextBox 21"/>
          <p:cNvSpPr txBox="1"/>
          <p:nvPr/>
        </p:nvSpPr>
        <p:spPr>
          <a:xfrm>
            <a:off x="7589520" y="2926080"/>
            <a:ext cx="1280160" cy="640080"/>
          </a:xfrm>
          <a:prstGeom prst="rect">
            <a:avLst/>
          </a:prstGeom>
          <a:noFill/>
        </p:spPr>
        <p:txBody>
          <a:bodyPr wrap="square">
            <a:spAutoFit/>
          </a:bodyPr>
          <a:lstStyle/>
          <a:p>
            <a:pPr algn="ctr">
              <a:spcBef>
                <a:spcPts val="0"/>
              </a:spcBef>
              <a:spcAft>
                <a:spcPts val="0"/>
              </a:spcAft>
              <a:defRPr sz="1000" b="0">
                <a:solidFill>
                  <a:srgbClr val="7F8C8D"/>
                </a:solidFill>
                <a:latin typeface="Calibri"/>
              </a:defRPr>
            </a:pPr>
            <a:r>
              <a:t>인쇄 &amp;</a:t>
            </a:r>
            <a:br/>
            <a:r>
              <a:t>출간</a:t>
            </a:r>
          </a:p>
        </p:txBody>
      </p:sp>
      <p:sp>
        <p:nvSpPr>
          <p:cNvPr id="23" name="Oval 22"/>
          <p:cNvSpPr/>
          <p:nvPr/>
        </p:nvSpPr>
        <p:spPr>
          <a:xfrm>
            <a:off x="914400" y="4114800"/>
            <a:ext cx="182880" cy="182880"/>
          </a:xfrm>
          <a:prstGeom prst="ellipse">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4069080"/>
            <a:ext cx="914400" cy="27432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진행 중</a:t>
            </a:r>
          </a:p>
        </p:txBody>
      </p:sp>
      <p:sp>
        <p:nvSpPr>
          <p:cNvPr id="25" name="Oval 24"/>
          <p:cNvSpPr/>
          <p:nvPr/>
        </p:nvSpPr>
        <p:spPr>
          <a:xfrm>
            <a:off x="2560320" y="4114800"/>
            <a:ext cx="182880" cy="182880"/>
          </a:xfrm>
          <a:prstGeom prst="ellipse">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4069080"/>
            <a:ext cx="914400" cy="27432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예정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예산 및 수익 전망</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3657600" cy="365760"/>
          </a:xfrm>
          <a:prstGeom prst="rect">
            <a:avLst/>
          </a:prstGeom>
          <a:noFill/>
        </p:spPr>
        <p:txBody>
          <a:bodyPr wrap="square">
            <a:spAutoFit/>
          </a:bodyPr>
          <a:lstStyle/>
          <a:p>
            <a:pPr algn="l">
              <a:spcBef>
                <a:spcPts val="0"/>
              </a:spcBef>
              <a:spcAft>
                <a:spcPts val="0"/>
              </a:spcAft>
              <a:defRPr sz="1600" b="1">
                <a:solidFill>
                  <a:srgbClr val="2C3E50"/>
                </a:solidFill>
                <a:latin typeface="Calibri"/>
              </a:defRPr>
            </a:pPr>
            <a:r>
              <a:t>제작 예산</a:t>
            </a:r>
          </a:p>
        </p:txBody>
      </p:sp>
      <p:sp>
        <p:nvSpPr>
          <p:cNvPr id="5" name="TextBox 4"/>
          <p:cNvSpPr txBox="1"/>
          <p:nvPr/>
        </p:nvSpPr>
        <p:spPr>
          <a:xfrm>
            <a:off x="731520" y="1828800"/>
            <a:ext cx="2011680" cy="32004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저자 인세 (10%)</a:t>
            </a:r>
          </a:p>
        </p:txBody>
      </p:sp>
      <p:sp>
        <p:nvSpPr>
          <p:cNvPr id="6" name="TextBox 5"/>
          <p:cNvSpPr txBox="1"/>
          <p:nvPr/>
        </p:nvSpPr>
        <p:spPr>
          <a:xfrm>
            <a:off x="2743200" y="1828800"/>
            <a:ext cx="1645920" cy="320040"/>
          </a:xfrm>
          <a:prstGeom prst="rect">
            <a:avLst/>
          </a:prstGeom>
          <a:noFill/>
        </p:spPr>
        <p:txBody>
          <a:bodyPr wrap="square">
            <a:spAutoFit/>
          </a:bodyPr>
          <a:lstStyle/>
          <a:p>
            <a:pPr algn="r">
              <a:spcBef>
                <a:spcPts val="0"/>
              </a:spcBef>
              <a:spcAft>
                <a:spcPts val="0"/>
              </a:spcAft>
              <a:defRPr sz="1100" b="1">
                <a:solidFill>
                  <a:srgbClr val="2C3E50"/>
                </a:solidFill>
                <a:latin typeface="Calibri"/>
              </a:defRPr>
            </a:pPr>
            <a:r>
              <a:t>약 2,500원/권</a:t>
            </a:r>
          </a:p>
        </p:txBody>
      </p:sp>
      <p:sp>
        <p:nvSpPr>
          <p:cNvPr id="7" name="TextBox 6"/>
          <p:cNvSpPr txBox="1"/>
          <p:nvPr/>
        </p:nvSpPr>
        <p:spPr>
          <a:xfrm>
            <a:off x="731520" y="2240280"/>
            <a:ext cx="2011680" cy="32004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편집/교정</a:t>
            </a:r>
          </a:p>
        </p:txBody>
      </p:sp>
      <p:sp>
        <p:nvSpPr>
          <p:cNvPr id="8" name="TextBox 7"/>
          <p:cNvSpPr txBox="1"/>
          <p:nvPr/>
        </p:nvSpPr>
        <p:spPr>
          <a:xfrm>
            <a:off x="2743200" y="2240280"/>
            <a:ext cx="1645920" cy="320040"/>
          </a:xfrm>
          <a:prstGeom prst="rect">
            <a:avLst/>
          </a:prstGeom>
          <a:noFill/>
        </p:spPr>
        <p:txBody>
          <a:bodyPr wrap="square">
            <a:spAutoFit/>
          </a:bodyPr>
          <a:lstStyle/>
          <a:p>
            <a:pPr algn="r">
              <a:spcBef>
                <a:spcPts val="0"/>
              </a:spcBef>
              <a:spcAft>
                <a:spcPts val="0"/>
              </a:spcAft>
              <a:defRPr sz="1100" b="1">
                <a:solidFill>
                  <a:srgbClr val="2C3E50"/>
                </a:solidFill>
                <a:latin typeface="Calibri"/>
              </a:defRPr>
            </a:pPr>
            <a:r>
              <a:t>300만원</a:t>
            </a:r>
          </a:p>
        </p:txBody>
      </p:sp>
      <p:sp>
        <p:nvSpPr>
          <p:cNvPr id="9" name="TextBox 8"/>
          <p:cNvSpPr txBox="1"/>
          <p:nvPr/>
        </p:nvSpPr>
        <p:spPr>
          <a:xfrm>
            <a:off x="731520" y="2651760"/>
            <a:ext cx="2011680" cy="32004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디자인/일러스트</a:t>
            </a:r>
          </a:p>
        </p:txBody>
      </p:sp>
      <p:sp>
        <p:nvSpPr>
          <p:cNvPr id="10" name="TextBox 9"/>
          <p:cNvSpPr txBox="1"/>
          <p:nvPr/>
        </p:nvSpPr>
        <p:spPr>
          <a:xfrm>
            <a:off x="2743200" y="2651760"/>
            <a:ext cx="1645920" cy="320040"/>
          </a:xfrm>
          <a:prstGeom prst="rect">
            <a:avLst/>
          </a:prstGeom>
          <a:noFill/>
        </p:spPr>
        <p:txBody>
          <a:bodyPr wrap="square">
            <a:spAutoFit/>
          </a:bodyPr>
          <a:lstStyle/>
          <a:p>
            <a:pPr algn="r">
              <a:spcBef>
                <a:spcPts val="0"/>
              </a:spcBef>
              <a:spcAft>
                <a:spcPts val="0"/>
              </a:spcAft>
              <a:defRPr sz="1100" b="1">
                <a:solidFill>
                  <a:srgbClr val="2C3E50"/>
                </a:solidFill>
                <a:latin typeface="Calibri"/>
              </a:defRPr>
            </a:pPr>
            <a:r>
              <a:t>200만원</a:t>
            </a:r>
          </a:p>
        </p:txBody>
      </p:sp>
      <p:sp>
        <p:nvSpPr>
          <p:cNvPr id="11" name="TextBox 10"/>
          <p:cNvSpPr txBox="1"/>
          <p:nvPr/>
        </p:nvSpPr>
        <p:spPr>
          <a:xfrm>
            <a:off x="731520" y="3063240"/>
            <a:ext cx="2011680" cy="32004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인쇄 (1차)</a:t>
            </a:r>
          </a:p>
        </p:txBody>
      </p:sp>
      <p:sp>
        <p:nvSpPr>
          <p:cNvPr id="12" name="TextBox 11"/>
          <p:cNvSpPr txBox="1"/>
          <p:nvPr/>
        </p:nvSpPr>
        <p:spPr>
          <a:xfrm>
            <a:off x="2743200" y="3063240"/>
            <a:ext cx="1645920" cy="320040"/>
          </a:xfrm>
          <a:prstGeom prst="rect">
            <a:avLst/>
          </a:prstGeom>
          <a:noFill/>
        </p:spPr>
        <p:txBody>
          <a:bodyPr wrap="square">
            <a:spAutoFit/>
          </a:bodyPr>
          <a:lstStyle/>
          <a:p>
            <a:pPr algn="r">
              <a:spcBef>
                <a:spcPts val="0"/>
              </a:spcBef>
              <a:spcAft>
                <a:spcPts val="0"/>
              </a:spcAft>
              <a:defRPr sz="1100" b="1">
                <a:solidFill>
                  <a:srgbClr val="2C3E50"/>
                </a:solidFill>
                <a:latin typeface="Calibri"/>
              </a:defRPr>
            </a:pPr>
            <a:r>
              <a:t>1,500만원 (5,000권)</a:t>
            </a:r>
          </a:p>
        </p:txBody>
      </p:sp>
      <p:sp>
        <p:nvSpPr>
          <p:cNvPr id="13" name="TextBox 12"/>
          <p:cNvSpPr txBox="1"/>
          <p:nvPr/>
        </p:nvSpPr>
        <p:spPr>
          <a:xfrm>
            <a:off x="731520" y="3474720"/>
            <a:ext cx="2011680" cy="32004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마케팅</a:t>
            </a:r>
          </a:p>
        </p:txBody>
      </p:sp>
      <p:sp>
        <p:nvSpPr>
          <p:cNvPr id="14" name="TextBox 13"/>
          <p:cNvSpPr txBox="1"/>
          <p:nvPr/>
        </p:nvSpPr>
        <p:spPr>
          <a:xfrm>
            <a:off x="2743200" y="3474720"/>
            <a:ext cx="1645920" cy="320040"/>
          </a:xfrm>
          <a:prstGeom prst="rect">
            <a:avLst/>
          </a:prstGeom>
          <a:noFill/>
        </p:spPr>
        <p:txBody>
          <a:bodyPr wrap="square">
            <a:spAutoFit/>
          </a:bodyPr>
          <a:lstStyle/>
          <a:p>
            <a:pPr algn="r">
              <a:spcBef>
                <a:spcPts val="0"/>
              </a:spcBef>
              <a:spcAft>
                <a:spcPts val="0"/>
              </a:spcAft>
              <a:defRPr sz="1100" b="1">
                <a:solidFill>
                  <a:srgbClr val="2C3E50"/>
                </a:solidFill>
                <a:latin typeface="Calibri"/>
              </a:defRPr>
            </a:pPr>
            <a:r>
              <a:t>500만원</a:t>
            </a:r>
          </a:p>
        </p:txBody>
      </p:sp>
      <p:sp>
        <p:nvSpPr>
          <p:cNvPr id="15" name="Rectangle 14"/>
          <p:cNvSpPr/>
          <p:nvPr/>
        </p:nvSpPr>
        <p:spPr>
          <a:xfrm>
            <a:off x="731520" y="3931920"/>
            <a:ext cx="3657600" cy="9144"/>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23360"/>
            <a:ext cx="3657600" cy="365760"/>
          </a:xfrm>
          <a:prstGeom prst="rect">
            <a:avLst/>
          </a:prstGeom>
          <a:noFill/>
        </p:spPr>
        <p:txBody>
          <a:bodyPr wrap="square">
            <a:spAutoFit/>
          </a:bodyPr>
          <a:lstStyle/>
          <a:p>
            <a:pPr algn="l">
              <a:spcBef>
                <a:spcPts val="0"/>
              </a:spcBef>
              <a:spcAft>
                <a:spcPts val="0"/>
              </a:spcAft>
              <a:defRPr sz="1300" b="1">
                <a:solidFill>
                  <a:srgbClr val="2C3E50"/>
                </a:solidFill>
                <a:latin typeface="Calibri"/>
              </a:defRPr>
            </a:pPr>
            <a:r>
              <a:t>총 제작비: 약 5,000만원</a:t>
            </a:r>
          </a:p>
        </p:txBody>
      </p:sp>
      <p:sp>
        <p:nvSpPr>
          <p:cNvPr id="17" name="TextBox 16"/>
          <p:cNvSpPr txBox="1"/>
          <p:nvPr/>
        </p:nvSpPr>
        <p:spPr>
          <a:xfrm>
            <a:off x="5029200" y="1371600"/>
            <a:ext cx="3657600" cy="365760"/>
          </a:xfrm>
          <a:prstGeom prst="rect">
            <a:avLst/>
          </a:prstGeom>
          <a:noFill/>
        </p:spPr>
        <p:txBody>
          <a:bodyPr wrap="square">
            <a:spAutoFit/>
          </a:bodyPr>
          <a:lstStyle/>
          <a:p>
            <a:pPr algn="l">
              <a:spcBef>
                <a:spcPts val="0"/>
              </a:spcBef>
              <a:spcAft>
                <a:spcPts val="0"/>
              </a:spcAft>
              <a:defRPr sz="1600" b="1">
                <a:solidFill>
                  <a:srgbClr val="2C3E50"/>
                </a:solidFill>
                <a:latin typeface="Calibri"/>
              </a:defRPr>
            </a:pPr>
            <a:r>
              <a:t>매출 전망</a:t>
            </a:r>
          </a:p>
        </p:txBody>
      </p:sp>
      <p:sp>
        <p:nvSpPr>
          <p:cNvPr id="18" name="Rectangle 17"/>
          <p:cNvSpPr/>
          <p:nvPr/>
        </p:nvSpPr>
        <p:spPr>
          <a:xfrm>
            <a:off x="5029200" y="3352800"/>
            <a:ext cx="731520" cy="30480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3124200"/>
            <a:ext cx="731520" cy="228600"/>
          </a:xfrm>
          <a:prstGeom prst="rect">
            <a:avLst/>
          </a:prstGeom>
          <a:noFill/>
        </p:spPr>
        <p:txBody>
          <a:bodyPr wrap="square">
            <a:spAutoFit/>
          </a:bodyPr>
          <a:lstStyle/>
          <a:p>
            <a:pPr algn="ctr">
              <a:spcBef>
                <a:spcPts val="0"/>
              </a:spcBef>
              <a:spcAft>
                <a:spcPts val="0"/>
              </a:spcAft>
              <a:defRPr sz="900" b="1">
                <a:solidFill>
                  <a:srgbClr val="2C3E50"/>
                </a:solidFill>
                <a:latin typeface="Calibri"/>
              </a:defRPr>
            </a:pPr>
            <a:r>
              <a:t>5k</a:t>
            </a:r>
          </a:p>
        </p:txBody>
      </p:sp>
      <p:sp>
        <p:nvSpPr>
          <p:cNvPr id="20" name="TextBox 19"/>
          <p:cNvSpPr txBox="1"/>
          <p:nvPr/>
        </p:nvSpPr>
        <p:spPr>
          <a:xfrm>
            <a:off x="5029200" y="37033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1차</a:t>
            </a:r>
          </a:p>
        </p:txBody>
      </p:sp>
      <p:sp>
        <p:nvSpPr>
          <p:cNvPr id="21" name="Rectangle 20"/>
          <p:cNvSpPr/>
          <p:nvPr/>
        </p:nvSpPr>
        <p:spPr>
          <a:xfrm>
            <a:off x="5943600" y="3048000"/>
            <a:ext cx="731520" cy="60960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0" y="2819400"/>
            <a:ext cx="731520" cy="228600"/>
          </a:xfrm>
          <a:prstGeom prst="rect">
            <a:avLst/>
          </a:prstGeom>
          <a:noFill/>
        </p:spPr>
        <p:txBody>
          <a:bodyPr wrap="square">
            <a:spAutoFit/>
          </a:bodyPr>
          <a:lstStyle/>
          <a:p>
            <a:pPr algn="ctr">
              <a:spcBef>
                <a:spcPts val="0"/>
              </a:spcBef>
              <a:spcAft>
                <a:spcPts val="0"/>
              </a:spcAft>
              <a:defRPr sz="900" b="1">
                <a:solidFill>
                  <a:srgbClr val="2C3E50"/>
                </a:solidFill>
                <a:latin typeface="Calibri"/>
              </a:defRPr>
            </a:pPr>
            <a:r>
              <a:t>10k</a:t>
            </a:r>
          </a:p>
        </p:txBody>
      </p:sp>
      <p:sp>
        <p:nvSpPr>
          <p:cNvPr id="23" name="TextBox 22"/>
          <p:cNvSpPr txBox="1"/>
          <p:nvPr/>
        </p:nvSpPr>
        <p:spPr>
          <a:xfrm>
            <a:off x="5943600" y="37033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2차</a:t>
            </a:r>
          </a:p>
        </p:txBody>
      </p:sp>
      <p:sp>
        <p:nvSpPr>
          <p:cNvPr id="24" name="Rectangle 23"/>
          <p:cNvSpPr/>
          <p:nvPr/>
        </p:nvSpPr>
        <p:spPr>
          <a:xfrm>
            <a:off x="6858000" y="2438400"/>
            <a:ext cx="731520" cy="121920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2209800"/>
            <a:ext cx="731520" cy="228600"/>
          </a:xfrm>
          <a:prstGeom prst="rect">
            <a:avLst/>
          </a:prstGeom>
          <a:noFill/>
        </p:spPr>
        <p:txBody>
          <a:bodyPr wrap="square">
            <a:spAutoFit/>
          </a:bodyPr>
          <a:lstStyle/>
          <a:p>
            <a:pPr algn="ctr">
              <a:spcBef>
                <a:spcPts val="0"/>
              </a:spcBef>
              <a:spcAft>
                <a:spcPts val="0"/>
              </a:spcAft>
              <a:defRPr sz="900" b="1">
                <a:solidFill>
                  <a:srgbClr val="2C3E50"/>
                </a:solidFill>
                <a:latin typeface="Calibri"/>
              </a:defRPr>
            </a:pPr>
            <a:r>
              <a:t>20k</a:t>
            </a:r>
          </a:p>
        </p:txBody>
      </p:sp>
      <p:sp>
        <p:nvSpPr>
          <p:cNvPr id="26" name="TextBox 25"/>
          <p:cNvSpPr txBox="1"/>
          <p:nvPr/>
        </p:nvSpPr>
        <p:spPr>
          <a:xfrm>
            <a:off x="6858000" y="37033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3차</a:t>
            </a:r>
          </a:p>
        </p:txBody>
      </p:sp>
      <p:sp>
        <p:nvSpPr>
          <p:cNvPr id="27" name="Rectangle 26"/>
          <p:cNvSpPr/>
          <p:nvPr/>
        </p:nvSpPr>
        <p:spPr>
          <a:xfrm>
            <a:off x="7772400" y="1828800"/>
            <a:ext cx="731520" cy="182880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1600200"/>
            <a:ext cx="731520" cy="228600"/>
          </a:xfrm>
          <a:prstGeom prst="rect">
            <a:avLst/>
          </a:prstGeom>
          <a:noFill/>
        </p:spPr>
        <p:txBody>
          <a:bodyPr wrap="square">
            <a:spAutoFit/>
          </a:bodyPr>
          <a:lstStyle/>
          <a:p>
            <a:pPr algn="ctr">
              <a:spcBef>
                <a:spcPts val="0"/>
              </a:spcBef>
              <a:spcAft>
                <a:spcPts val="0"/>
              </a:spcAft>
              <a:defRPr sz="900" b="1">
                <a:solidFill>
                  <a:srgbClr val="2C3E50"/>
                </a:solidFill>
                <a:latin typeface="Calibri"/>
              </a:defRPr>
            </a:pPr>
            <a:r>
              <a:t>30k</a:t>
            </a:r>
          </a:p>
        </p:txBody>
      </p:sp>
      <p:sp>
        <p:nvSpPr>
          <p:cNvPr id="29" name="TextBox 28"/>
          <p:cNvSpPr txBox="1"/>
          <p:nvPr/>
        </p:nvSpPr>
        <p:spPr>
          <a:xfrm>
            <a:off x="7772400" y="3703320"/>
            <a:ext cx="731520" cy="228600"/>
          </a:xfrm>
          <a:prstGeom prst="rect">
            <a:avLst/>
          </a:prstGeom>
          <a:noFill/>
        </p:spPr>
        <p:txBody>
          <a:bodyPr wrap="square">
            <a:spAutoFit/>
          </a:bodyPr>
          <a:lstStyle/>
          <a:p>
            <a:pPr algn="ctr">
              <a:spcBef>
                <a:spcPts val="0"/>
              </a:spcBef>
              <a:spcAft>
                <a:spcPts val="0"/>
              </a:spcAft>
              <a:defRPr sz="900" b="0">
                <a:solidFill>
                  <a:srgbClr val="7F8C8D"/>
                </a:solidFill>
                <a:latin typeface="Calibri"/>
              </a:defRPr>
            </a:pPr>
            <a:r>
              <a:t>장기</a:t>
            </a:r>
          </a:p>
        </p:txBody>
      </p:sp>
      <p:sp>
        <p:nvSpPr>
          <p:cNvPr id="30" name="TextBox 29"/>
          <p:cNvSpPr txBox="1"/>
          <p:nvPr/>
        </p:nvSpPr>
        <p:spPr>
          <a:xfrm>
            <a:off x="5029200" y="4114800"/>
            <a:ext cx="3657600" cy="365760"/>
          </a:xfrm>
          <a:prstGeom prst="rect">
            <a:avLst/>
          </a:prstGeom>
          <a:noFill/>
        </p:spPr>
        <p:txBody>
          <a:bodyPr wrap="square">
            <a:spAutoFit/>
          </a:bodyPr>
          <a:lstStyle/>
          <a:p>
            <a:pPr algn="l">
              <a:spcBef>
                <a:spcPts val="0"/>
              </a:spcBef>
              <a:spcAft>
                <a:spcPts val="0"/>
              </a:spcAft>
              <a:defRPr sz="1100" b="1">
                <a:solidFill>
                  <a:srgbClr val="1ABC9C"/>
                </a:solidFill>
                <a:latin typeface="Calibri"/>
              </a:defRPr>
            </a:pPr>
            <a:r>
              <a:t>예상 매출: 7,500만원~1억원 (1차+2차)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680960" cy="640080"/>
          </a:xfrm>
          <a:prstGeom prst="rect">
            <a:avLst/>
          </a:prstGeom>
          <a:noFill/>
        </p:spPr>
        <p:txBody>
          <a:bodyPr wrap="square">
            <a:spAutoFit/>
          </a:bodyPr>
          <a:lstStyle/>
          <a:p>
            <a:pPr algn="l">
              <a:spcBef>
                <a:spcPts val="0"/>
              </a:spcBef>
              <a:spcAft>
                <a:spcPts val="0"/>
              </a:spcAft>
              <a:defRPr sz="2800" b="1">
                <a:solidFill>
                  <a:srgbClr val="2C3E50"/>
                </a:solidFill>
                <a:latin typeface="Georgia"/>
              </a:defRPr>
            </a:pPr>
            <a:r>
              <a:t>리스크 분석</a:t>
            </a:r>
          </a:p>
        </p:txBody>
      </p:sp>
      <p:sp>
        <p:nvSpPr>
          <p:cNvPr id="3" name="Rectangle 2"/>
          <p:cNvSpPr/>
          <p:nvPr/>
        </p:nvSpPr>
        <p:spPr>
          <a:xfrm>
            <a:off x="731520" y="1051560"/>
            <a:ext cx="73152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768096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73152" cy="7315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17320"/>
            <a:ext cx="2286000" cy="320040"/>
          </a:xfrm>
          <a:prstGeom prst="rect">
            <a:avLst/>
          </a:prstGeom>
          <a:noFill/>
        </p:spPr>
        <p:txBody>
          <a:bodyPr wrap="square">
            <a:spAutoFit/>
          </a:bodyPr>
          <a:lstStyle/>
          <a:p>
            <a:pPr algn="l">
              <a:spcBef>
                <a:spcPts val="0"/>
              </a:spcBef>
              <a:spcAft>
                <a:spcPts val="0"/>
              </a:spcAft>
              <a:defRPr sz="1200" b="1">
                <a:solidFill>
                  <a:srgbClr val="2C3E50"/>
                </a:solidFill>
                <a:latin typeface="Calibri"/>
              </a:defRPr>
            </a:pPr>
            <a:r>
              <a:t>도구 업데이트 빈도</a:t>
            </a:r>
          </a:p>
        </p:txBody>
      </p:sp>
      <p:sp>
        <p:nvSpPr>
          <p:cNvPr id="7" name="TextBox 6"/>
          <p:cNvSpPr txBox="1"/>
          <p:nvPr/>
        </p:nvSpPr>
        <p:spPr>
          <a:xfrm>
            <a:off x="1005840" y="1737360"/>
            <a:ext cx="2286000" cy="27432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영향도: 높음</a:t>
            </a:r>
          </a:p>
        </p:txBody>
      </p:sp>
      <p:sp>
        <p:nvSpPr>
          <p:cNvPr id="8" name="TextBox 7"/>
          <p:cNvSpPr txBox="1"/>
          <p:nvPr/>
        </p:nvSpPr>
        <p:spPr>
          <a:xfrm>
            <a:off x="3657600" y="1508760"/>
            <a:ext cx="4572000" cy="45720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대응 방안: 온라인 보충 자료 제공, 개정판 준비</a:t>
            </a:r>
          </a:p>
        </p:txBody>
      </p:sp>
      <p:sp>
        <p:nvSpPr>
          <p:cNvPr id="9" name="Rectangle 8"/>
          <p:cNvSpPr/>
          <p:nvPr/>
        </p:nvSpPr>
        <p:spPr>
          <a:xfrm>
            <a:off x="731520" y="2240280"/>
            <a:ext cx="768096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240280"/>
            <a:ext cx="73152" cy="73152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286000"/>
            <a:ext cx="2286000" cy="320040"/>
          </a:xfrm>
          <a:prstGeom prst="rect">
            <a:avLst/>
          </a:prstGeom>
          <a:noFill/>
        </p:spPr>
        <p:txBody>
          <a:bodyPr wrap="square">
            <a:spAutoFit/>
          </a:bodyPr>
          <a:lstStyle/>
          <a:p>
            <a:pPr algn="l">
              <a:spcBef>
                <a:spcPts val="0"/>
              </a:spcBef>
              <a:spcAft>
                <a:spcPts val="0"/>
              </a:spcAft>
              <a:defRPr sz="1200" b="1">
                <a:solidFill>
                  <a:srgbClr val="2C3E50"/>
                </a:solidFill>
                <a:latin typeface="Calibri"/>
              </a:defRPr>
            </a:pPr>
            <a:r>
              <a:t>시장 포화</a:t>
            </a:r>
          </a:p>
        </p:txBody>
      </p:sp>
      <p:sp>
        <p:nvSpPr>
          <p:cNvPr id="12" name="TextBox 11"/>
          <p:cNvSpPr txBox="1"/>
          <p:nvPr/>
        </p:nvSpPr>
        <p:spPr>
          <a:xfrm>
            <a:off x="1005840" y="2606040"/>
            <a:ext cx="2286000" cy="27432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영향도: 중간</a:t>
            </a:r>
          </a:p>
        </p:txBody>
      </p:sp>
      <p:sp>
        <p:nvSpPr>
          <p:cNvPr id="13" name="TextBox 12"/>
          <p:cNvSpPr txBox="1"/>
          <p:nvPr/>
        </p:nvSpPr>
        <p:spPr>
          <a:xfrm>
            <a:off x="3657600" y="2377440"/>
            <a:ext cx="4572000" cy="45720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대응 방안: 차별화 콘텐츠 (수익화, 에듀테크)</a:t>
            </a:r>
          </a:p>
        </p:txBody>
      </p:sp>
      <p:sp>
        <p:nvSpPr>
          <p:cNvPr id="14" name="Rectangle 13"/>
          <p:cNvSpPr/>
          <p:nvPr/>
        </p:nvSpPr>
        <p:spPr>
          <a:xfrm>
            <a:off x="731520" y="3108960"/>
            <a:ext cx="768096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108960"/>
            <a:ext cx="73152" cy="731520"/>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154679"/>
            <a:ext cx="2286000" cy="320040"/>
          </a:xfrm>
          <a:prstGeom prst="rect">
            <a:avLst/>
          </a:prstGeom>
          <a:noFill/>
        </p:spPr>
        <p:txBody>
          <a:bodyPr wrap="square">
            <a:spAutoFit/>
          </a:bodyPr>
          <a:lstStyle/>
          <a:p>
            <a:pPr algn="l">
              <a:spcBef>
                <a:spcPts val="0"/>
              </a:spcBef>
              <a:spcAft>
                <a:spcPts val="0"/>
              </a:spcAft>
              <a:defRPr sz="1200" b="1">
                <a:solidFill>
                  <a:srgbClr val="2C3E50"/>
                </a:solidFill>
                <a:latin typeface="Calibri"/>
              </a:defRPr>
            </a:pPr>
            <a:r>
              <a:t>저자 일정 지연</a:t>
            </a:r>
          </a:p>
        </p:txBody>
      </p:sp>
      <p:sp>
        <p:nvSpPr>
          <p:cNvPr id="17" name="TextBox 16"/>
          <p:cNvSpPr txBox="1"/>
          <p:nvPr/>
        </p:nvSpPr>
        <p:spPr>
          <a:xfrm>
            <a:off x="1005840" y="3474720"/>
            <a:ext cx="2286000" cy="27432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영향도: 중간</a:t>
            </a:r>
          </a:p>
        </p:txBody>
      </p:sp>
      <p:sp>
        <p:nvSpPr>
          <p:cNvPr id="18" name="TextBox 17"/>
          <p:cNvSpPr txBox="1"/>
          <p:nvPr/>
        </p:nvSpPr>
        <p:spPr>
          <a:xfrm>
            <a:off x="3657600" y="3246120"/>
            <a:ext cx="4572000" cy="45720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대응 방안: 단계별 마일스톤 관리, 대체 저자 검토</a:t>
            </a:r>
          </a:p>
        </p:txBody>
      </p:sp>
      <p:sp>
        <p:nvSpPr>
          <p:cNvPr id="19" name="Rectangle 18"/>
          <p:cNvSpPr/>
          <p:nvPr/>
        </p:nvSpPr>
        <p:spPr>
          <a:xfrm>
            <a:off x="731520" y="3977639"/>
            <a:ext cx="7680960" cy="7315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3977639"/>
            <a:ext cx="73152" cy="7315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023359"/>
            <a:ext cx="2286000" cy="320040"/>
          </a:xfrm>
          <a:prstGeom prst="rect">
            <a:avLst/>
          </a:prstGeom>
          <a:noFill/>
        </p:spPr>
        <p:txBody>
          <a:bodyPr wrap="square">
            <a:spAutoFit/>
          </a:bodyPr>
          <a:lstStyle/>
          <a:p>
            <a:pPr algn="l">
              <a:spcBef>
                <a:spcPts val="0"/>
              </a:spcBef>
              <a:spcAft>
                <a:spcPts val="0"/>
              </a:spcAft>
              <a:defRPr sz="1200" b="1">
                <a:solidFill>
                  <a:srgbClr val="2C3E50"/>
                </a:solidFill>
                <a:latin typeface="Calibri"/>
              </a:defRPr>
            </a:pPr>
            <a:r>
              <a:t>AI 기술 급변</a:t>
            </a:r>
          </a:p>
        </p:txBody>
      </p:sp>
      <p:sp>
        <p:nvSpPr>
          <p:cNvPr id="22" name="TextBox 21"/>
          <p:cNvSpPr txBox="1"/>
          <p:nvPr/>
        </p:nvSpPr>
        <p:spPr>
          <a:xfrm>
            <a:off x="1005840" y="4343400"/>
            <a:ext cx="2286000" cy="274320"/>
          </a:xfrm>
          <a:prstGeom prst="rect">
            <a:avLst/>
          </a:prstGeom>
          <a:noFill/>
        </p:spPr>
        <p:txBody>
          <a:bodyPr wrap="square">
            <a:spAutoFit/>
          </a:bodyPr>
          <a:lstStyle/>
          <a:p>
            <a:pPr algn="l">
              <a:spcBef>
                <a:spcPts val="0"/>
              </a:spcBef>
              <a:spcAft>
                <a:spcPts val="0"/>
              </a:spcAft>
              <a:defRPr sz="1000" b="0">
                <a:solidFill>
                  <a:srgbClr val="7F8C8D"/>
                </a:solidFill>
                <a:latin typeface="Calibri"/>
              </a:defRPr>
            </a:pPr>
            <a:r>
              <a:t>영향도: 높음</a:t>
            </a:r>
          </a:p>
        </p:txBody>
      </p:sp>
      <p:sp>
        <p:nvSpPr>
          <p:cNvPr id="23" name="TextBox 22"/>
          <p:cNvSpPr txBox="1"/>
          <p:nvPr/>
        </p:nvSpPr>
        <p:spPr>
          <a:xfrm>
            <a:off x="3657600" y="4114800"/>
            <a:ext cx="4572000" cy="457200"/>
          </a:xfrm>
          <a:prstGeom prst="rect">
            <a:avLst/>
          </a:prstGeom>
          <a:noFill/>
        </p:spPr>
        <p:txBody>
          <a:bodyPr wrap="square">
            <a:spAutoFit/>
          </a:bodyPr>
          <a:lstStyle/>
          <a:p>
            <a:pPr algn="l">
              <a:spcBef>
                <a:spcPts val="0"/>
              </a:spcBef>
              <a:spcAft>
                <a:spcPts val="0"/>
              </a:spcAft>
              <a:defRPr sz="1100" b="0">
                <a:solidFill>
                  <a:srgbClr val="2C3E50"/>
                </a:solidFill>
                <a:latin typeface="Calibri"/>
              </a:defRPr>
            </a:pPr>
            <a:r>
              <a:t>대응 방안: 원리 중심 구성, 도구 독립적 설명</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Rectangle 1"/>
          <p:cNvSpPr/>
          <p:nvPr/>
        </p:nvSpPr>
        <p:spPr>
          <a:xfrm>
            <a:off x="0" y="0"/>
            <a:ext cx="9144000" cy="54864"/>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7680960" cy="1371600"/>
          </a:xfrm>
          <a:prstGeom prst="rect">
            <a:avLst/>
          </a:prstGeom>
          <a:noFill/>
        </p:spPr>
        <p:txBody>
          <a:bodyPr wrap="square">
            <a:spAutoFit/>
          </a:bodyPr>
          <a:lstStyle/>
          <a:p>
            <a:pPr algn="ctr">
              <a:spcBef>
                <a:spcPts val="0"/>
              </a:spcBef>
              <a:spcAft>
                <a:spcPts val="0"/>
              </a:spcAft>
              <a:defRPr sz="6000" b="1">
                <a:solidFill>
                  <a:srgbClr val="FFFFFF"/>
                </a:solidFill>
                <a:latin typeface="Georgia"/>
              </a:defRPr>
            </a:pPr>
            <a:r>
              <a:t>Q &amp; A</a:t>
            </a:r>
          </a:p>
        </p:txBody>
      </p:sp>
      <p:sp>
        <p:nvSpPr>
          <p:cNvPr id="4" name="Rectangle 3"/>
          <p:cNvSpPr/>
          <p:nvPr/>
        </p:nvSpPr>
        <p:spPr>
          <a:xfrm>
            <a:off x="3840480" y="2926080"/>
            <a:ext cx="146304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0"/>
            <a:ext cx="7680960" cy="548640"/>
          </a:xfrm>
          <a:prstGeom prst="rect">
            <a:avLst/>
          </a:prstGeom>
          <a:noFill/>
        </p:spPr>
        <p:txBody>
          <a:bodyPr wrap="square">
            <a:spAutoFit/>
          </a:bodyPr>
          <a:lstStyle/>
          <a:p>
            <a:pPr algn="ctr">
              <a:spcBef>
                <a:spcPts val="0"/>
              </a:spcBef>
              <a:spcAft>
                <a:spcPts val="0"/>
              </a:spcAft>
              <a:defRPr sz="1800" b="0">
                <a:solidFill>
                  <a:srgbClr val="BDC3C7"/>
                </a:solidFill>
                <a:latin typeface="Calibri"/>
              </a:defRPr>
            </a:pPr>
            <a:r>
              <a:t>질문 및 토론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Rectangle 1"/>
          <p:cNvSpPr/>
          <p:nvPr/>
        </p:nvSpPr>
        <p:spPr>
          <a:xfrm>
            <a:off x="0" y="0"/>
            <a:ext cx="9144000" cy="54864"/>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7680960" cy="1097280"/>
          </a:xfrm>
          <a:prstGeom prst="rect">
            <a:avLst/>
          </a:prstGeom>
          <a:noFill/>
        </p:spPr>
        <p:txBody>
          <a:bodyPr wrap="square">
            <a:spAutoFit/>
          </a:bodyPr>
          <a:lstStyle/>
          <a:p>
            <a:pPr algn="ctr">
              <a:spcBef>
                <a:spcPts val="0"/>
              </a:spcBef>
              <a:spcAft>
                <a:spcPts val="0"/>
              </a:spcAft>
              <a:defRPr sz="4400" b="1">
                <a:solidFill>
                  <a:srgbClr val="FFFFFF"/>
                </a:solidFill>
                <a:latin typeface="Georgia"/>
              </a:defRPr>
            </a:pPr>
            <a:r>
              <a:t>감사합니다</a:t>
            </a:r>
          </a:p>
        </p:txBody>
      </p:sp>
      <p:sp>
        <p:nvSpPr>
          <p:cNvPr id="4" name="Rectangle 3"/>
          <p:cNvSpPr/>
          <p:nvPr/>
        </p:nvSpPr>
        <p:spPr>
          <a:xfrm>
            <a:off x="3840480" y="2651760"/>
            <a:ext cx="1463040" cy="36576"/>
          </a:xfrm>
          <a:prstGeom prst="rect">
            <a:avLst/>
          </a:prstGeom>
          <a:solidFill>
            <a:srgbClr val="5DA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926080"/>
            <a:ext cx="7680960" cy="457200"/>
          </a:xfrm>
          <a:prstGeom prst="rect">
            <a:avLst/>
          </a:prstGeom>
          <a:noFill/>
        </p:spPr>
        <p:txBody>
          <a:bodyPr wrap="square">
            <a:spAutoFit/>
          </a:bodyPr>
          <a:lstStyle/>
          <a:p>
            <a:pPr algn="ctr">
              <a:spcBef>
                <a:spcPts val="0"/>
              </a:spcBef>
              <a:spcAft>
                <a:spcPts val="0"/>
              </a:spcAft>
              <a:defRPr sz="1600" b="0">
                <a:solidFill>
                  <a:srgbClr val="BDC3C7"/>
                </a:solidFill>
                <a:latin typeface="Calibri"/>
              </a:defRPr>
            </a:pPr>
            <a:r>
              <a:t>ABC Publishing | 도서 기획팀</a:t>
            </a:r>
          </a:p>
        </p:txBody>
      </p:sp>
      <p:sp>
        <p:nvSpPr>
          <p:cNvPr id="6" name="TextBox 5"/>
          <p:cNvSpPr txBox="1"/>
          <p:nvPr/>
        </p:nvSpPr>
        <p:spPr>
          <a:xfrm>
            <a:off x="731520" y="3474720"/>
            <a:ext cx="7680960" cy="365760"/>
          </a:xfrm>
          <a:prstGeom prst="rect">
            <a:avLst/>
          </a:prstGeom>
          <a:noFill/>
        </p:spPr>
        <p:txBody>
          <a:bodyPr wrap="square">
            <a:spAutoFit/>
          </a:bodyPr>
          <a:lstStyle/>
          <a:p>
            <a:pPr algn="ctr">
              <a:spcBef>
                <a:spcPts val="0"/>
              </a:spcBef>
              <a:spcAft>
                <a:spcPts val="0"/>
              </a:spcAft>
              <a:defRPr sz="1300" b="0">
                <a:solidFill>
                  <a:srgbClr val="7F8C8D"/>
                </a:solidFill>
                <a:latin typeface="Calibri"/>
              </a:defRPr>
            </a:pPr>
            <a:r>
              <a:t>abc-publishing@example.com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